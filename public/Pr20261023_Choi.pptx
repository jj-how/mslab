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08" r:id="rId3"/>
    <p:sldId id="336" r:id="rId4"/>
    <p:sldId id="344" r:id="rId5"/>
    <p:sldId id="261" r:id="rId6"/>
    <p:sldId id="286" r:id="rId7"/>
    <p:sldId id="357" r:id="rId8"/>
    <p:sldId id="346" r:id="rId9"/>
    <p:sldId id="348" r:id="rId10"/>
    <p:sldId id="356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277" r:id="rId19"/>
    <p:sldId id="34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3"/>
    <a:srgbClr val="6299E0"/>
    <a:srgbClr val="FFFFE7"/>
    <a:srgbClr val="7BDB6B"/>
    <a:srgbClr val="6AD658"/>
    <a:srgbClr val="FCC11C"/>
    <a:srgbClr val="E1F335"/>
    <a:srgbClr val="D3E80E"/>
    <a:srgbClr val="5DD24A"/>
    <a:srgbClr val="A1CC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2" autoAdjust="0"/>
    <p:restoredTop sz="90909" autoAdjust="0"/>
  </p:normalViewPr>
  <p:slideViewPr>
    <p:cSldViewPr snapToGrid="0" snapToObjects="1">
      <p:cViewPr varScale="1">
        <p:scale>
          <a:sx n="105" d="100"/>
          <a:sy n="105" d="100"/>
        </p:scale>
        <p:origin x="64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8D6F7-BDBE-4CBF-924E-6820DF3EE14E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ECD08-9EC9-43CF-9952-50D12A22B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703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008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44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229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여러 연구의 결과를 결합해야 하는 경우가 있다고 했는데 이때 연구마다 </a:t>
            </a:r>
            <a:r>
              <a:rPr lang="ko-KR" altLang="en-US" dirty="0" err="1"/>
              <a:t>표본수와</a:t>
            </a:r>
            <a:r>
              <a:rPr lang="ko-KR" altLang="en-US" dirty="0"/>
              <a:t> 추정의 불확실성이 다르다는 점을 고려하면서 종합하는 방법이 메타분석</a:t>
            </a:r>
            <a:endParaRPr lang="en-US" altLang="ko-KR" dirty="0"/>
          </a:p>
          <a:p>
            <a:r>
              <a:rPr lang="ko-KR" altLang="en-US" dirty="0"/>
              <a:t>실제 연구에서는 대상자의 특성이나 측정환경이 다르기 때문에 연구 평균들의 분포가 </a:t>
            </a:r>
            <a:r>
              <a:rPr lang="ko-KR" altLang="en-US" dirty="0" err="1"/>
              <a:t>비대칭적이거나</a:t>
            </a:r>
            <a:r>
              <a:rPr lang="ko-KR" altLang="en-US" dirty="0"/>
              <a:t> 여러 봉우리를 </a:t>
            </a:r>
            <a:r>
              <a:rPr lang="ko-KR" altLang="en-US" dirty="0" err="1"/>
              <a:t>가질수</a:t>
            </a:r>
            <a:r>
              <a:rPr lang="ko-KR" altLang="en-US" dirty="0"/>
              <a:t> 있고</a:t>
            </a:r>
            <a:endParaRPr lang="en-US" altLang="ko-KR" dirty="0"/>
          </a:p>
          <a:p>
            <a:r>
              <a:rPr lang="ko-KR" altLang="en-US" dirty="0"/>
              <a:t>연구마다 대상자 특성도 다르므로 개인 측정값이 </a:t>
            </a:r>
            <a:r>
              <a:rPr lang="ko-KR" altLang="en-US" dirty="0" err="1"/>
              <a:t>퍼져있는</a:t>
            </a:r>
            <a:r>
              <a:rPr lang="ko-KR" altLang="en-US" dirty="0"/>
              <a:t> 정도도 다를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 우리는 </a:t>
            </a:r>
            <a:r>
              <a:rPr lang="ko-KR" altLang="en-US" dirty="0" err="1"/>
              <a:t>쎄타</a:t>
            </a:r>
            <a:r>
              <a:rPr lang="en-US" altLang="ko-KR" dirty="0" err="1"/>
              <a:t>i</a:t>
            </a:r>
            <a:r>
              <a:rPr lang="ko-KR" altLang="en-US" dirty="0"/>
              <a:t>랑 </a:t>
            </a:r>
            <a:r>
              <a:rPr lang="ko-KR" altLang="en-US" dirty="0" err="1"/>
              <a:t>시그마제곱을</a:t>
            </a:r>
            <a:r>
              <a:rPr lang="ko-KR" altLang="en-US" dirty="0"/>
              <a:t> </a:t>
            </a:r>
            <a:r>
              <a:rPr lang="en-US" altLang="ko-KR" dirty="0"/>
              <a:t>DP</a:t>
            </a:r>
            <a:r>
              <a:rPr lang="ko-KR" altLang="en-US" dirty="0"/>
              <a:t>를 </a:t>
            </a:r>
            <a:r>
              <a:rPr lang="ko-KR" altLang="en-US" dirty="0" err="1"/>
              <a:t>하겠구나를</a:t>
            </a:r>
            <a:r>
              <a:rPr lang="ko-KR" altLang="en-US" dirty="0"/>
              <a:t> 대충 </a:t>
            </a:r>
            <a:r>
              <a:rPr lang="ko-KR" altLang="en-US" dirty="0" err="1"/>
              <a:t>예상할수</a:t>
            </a:r>
            <a:r>
              <a:rPr lang="ko-KR" altLang="en-US" dirty="0"/>
              <a:t> 있겠죠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73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52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수업시간에 </a:t>
            </a:r>
            <a:r>
              <a:rPr lang="ko-KR" altLang="en-US" dirty="0" err="1"/>
              <a:t>배운것처럼</a:t>
            </a:r>
            <a:r>
              <a:rPr lang="ko-KR" altLang="en-US" dirty="0"/>
              <a:t> 사전분포는 각 확률에 </a:t>
            </a:r>
            <a:r>
              <a:rPr lang="ko-KR" altLang="en-US" dirty="0" err="1"/>
              <a:t>나올수</a:t>
            </a:r>
            <a:r>
              <a:rPr lang="ko-KR" altLang="en-US" dirty="0"/>
              <a:t> 있는 값들의 합으로 가중치는 막대 생각하면서 곱으로 표현</a:t>
            </a:r>
            <a:endParaRPr lang="en-US" altLang="ko-KR" dirty="0"/>
          </a:p>
          <a:p>
            <a:r>
              <a:rPr lang="ko-KR" altLang="en-US" dirty="0"/>
              <a:t>베타분포인 이유는 </a:t>
            </a:r>
            <a:r>
              <a:rPr lang="ko-KR" altLang="en-US" dirty="0" err="1"/>
              <a:t>스틱브레이킹</a:t>
            </a:r>
            <a:r>
              <a:rPr lang="ko-KR" altLang="en-US" dirty="0"/>
              <a:t> 표현이 </a:t>
            </a:r>
            <a:r>
              <a:rPr lang="ko-KR" altLang="en-US" dirty="0" err="1"/>
              <a:t>이분포를</a:t>
            </a:r>
            <a:r>
              <a:rPr lang="ko-KR" altLang="en-US" dirty="0"/>
              <a:t> 사용하도록 정의하기 때문 </a:t>
            </a:r>
            <a:r>
              <a:rPr lang="en-US" altLang="ko-KR" dirty="0"/>
              <a:t>DP </a:t>
            </a:r>
            <a:r>
              <a:rPr lang="ko-KR" altLang="en-US" dirty="0"/>
              <a:t>자체에서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508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DP</a:t>
            </a:r>
            <a:r>
              <a:rPr lang="ko-KR" altLang="en-US" dirty="0"/>
              <a:t>에서 저희는 이론적으로 무한개의 잠재 성분을 </a:t>
            </a:r>
            <a:r>
              <a:rPr lang="ko-KR" altLang="en-US" dirty="0" err="1"/>
              <a:t>가질수</a:t>
            </a:r>
            <a:r>
              <a:rPr lang="ko-KR" altLang="en-US" dirty="0"/>
              <a:t> 있다고 했으나 저자들은 실제 계산에서는 절단된 </a:t>
            </a:r>
            <a:r>
              <a:rPr lang="en-US" altLang="ko-KR" dirty="0"/>
              <a:t>DP</a:t>
            </a:r>
            <a:r>
              <a:rPr lang="ko-KR" altLang="en-US" dirty="0"/>
              <a:t>를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17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중요한건 </a:t>
                </a:r>
                <a:r>
                  <a:rPr lang="ko-KR" altLang="en-US" dirty="0" err="1"/>
                  <a:t>쎄타</a:t>
                </a:r>
                <a:r>
                  <a:rPr lang="en-US" altLang="ko-KR" dirty="0" err="1"/>
                  <a:t>i</a:t>
                </a:r>
                <a:r>
                  <a:rPr lang="ko-KR" altLang="en-US" dirty="0"/>
                  <a:t>가 새로운 관측치가 아닌 </a:t>
                </a:r>
                <a:r>
                  <a:rPr lang="ko-KR" altLang="en-US" dirty="0" err="1"/>
                  <a:t>연구별</a:t>
                </a:r>
                <a:r>
                  <a:rPr lang="ko-KR" altLang="en-US" dirty="0"/>
                  <a:t> 평균이다 즉 우리가 배운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에서는 관측치마다 개개인마다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를 </a:t>
                </a:r>
                <a:r>
                  <a:rPr lang="ko-KR" altLang="en-US" dirty="0" err="1"/>
                  <a:t>적용한거지만</a:t>
                </a:r>
                <a:r>
                  <a:rPr lang="ko-KR" altLang="en-US" dirty="0"/>
                  <a:t> 이 연구는 </a:t>
                </a:r>
                <a:r>
                  <a:rPr lang="ko-KR" altLang="en-US" dirty="0" err="1"/>
                  <a:t>연구별</a:t>
                </a:r>
                <a:r>
                  <a:rPr lang="ko-KR" altLang="en-US" dirty="0"/>
                  <a:t> 평균에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를 </a:t>
                </a:r>
                <a:r>
                  <a:rPr lang="ko-KR" altLang="en-US" dirty="0" err="1"/>
                  <a:t>적용한것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파란색은 새로운 평균 </a:t>
                </a:r>
                <a:r>
                  <a:rPr lang="ko-KR" altLang="en-US" dirty="0" err="1"/>
                  <a:t>생성항이고</a:t>
                </a:r>
                <a:r>
                  <a:rPr lang="ko-KR" altLang="en-US" dirty="0"/>
                  <a:t> 빨간색은 기존 평균 재사용항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은 </a:t>
                </a:r>
                <a:r>
                  <a:rPr lang="ko-KR" altLang="en-US" dirty="0" err="1"/>
                  <a:t>역감마</a:t>
                </a:r>
                <a:r>
                  <a:rPr lang="ko-KR" altLang="en-US" dirty="0"/>
                  <a:t> 사전분포를 사용하려면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 </a:t>
                </a:r>
                <a:r>
                  <a:rPr lang="ko-KR" altLang="en-US" dirty="0" err="1"/>
                  <a:t>모수들을</a:t>
                </a:r>
                <a:r>
                  <a:rPr lang="ko-KR" altLang="en-US" dirty="0"/>
                  <a:t> 정해야 하는데 이 값들을 어떻게 </a:t>
                </a:r>
                <a:r>
                  <a:rPr lang="ko-KR" altLang="en-US" dirty="0" err="1"/>
                  <a:t>선택하느냐에</a:t>
                </a:r>
                <a:r>
                  <a:rPr lang="ko-KR" altLang="en-US" dirty="0"/>
                  <a:t> 따라 작은 분산과 큰 분산에 부여하는 사전 확률이 달라져서 특이 연구수가 적으면 사전분포 설정이 결과에 크게 영향을 </a:t>
                </a:r>
                <a:r>
                  <a:rPr lang="ko-KR" altLang="en-US" dirty="0" err="1"/>
                  <a:t>줄수도</a:t>
                </a:r>
                <a:r>
                  <a:rPr lang="ko-KR" altLang="en-US" dirty="0"/>
                  <a:t> 있음 따라서 표준편차를 유니폼 분포로 줘서 동일한 사전밀도를 부여</a:t>
                </a:r>
                <a:endParaRPr lang="en-US" altLang="ko-KR" dirty="0"/>
              </a:p>
              <a:p>
                <a:r>
                  <a:rPr lang="ko-KR" altLang="en-US" dirty="0"/>
                  <a:t>그러나 이것도 </a:t>
                </a:r>
                <a:r>
                  <a:rPr lang="en-US" altLang="ko-KR" dirty="0"/>
                  <a:t>10</a:t>
                </a:r>
                <a:r>
                  <a:rPr lang="ko-KR" altLang="en-US" dirty="0"/>
                  <a:t>이라는 사전정보가 </a:t>
                </a:r>
                <a:r>
                  <a:rPr lang="ko-KR" altLang="en-US" dirty="0" err="1"/>
                  <a:t>들어간것</a:t>
                </a:r>
                <a:r>
                  <a:rPr lang="ko-KR" altLang="en-US" dirty="0"/>
                  <a:t> 실제 분석에서 저자는 관측된 연구 효과의 표준편차보다 충분히 큰 상한을 권장함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중요한건 </a:t>
                </a:r>
                <a:r>
                  <a:rPr lang="ko-KR" altLang="en-US" dirty="0" err="1"/>
                  <a:t>쎄타</a:t>
                </a:r>
                <a:r>
                  <a:rPr lang="en-US" altLang="ko-KR" dirty="0" err="1"/>
                  <a:t>i</a:t>
                </a:r>
                <a:r>
                  <a:rPr lang="ko-KR" altLang="en-US" dirty="0"/>
                  <a:t>가 새로운 관측치가 아닌 </a:t>
                </a:r>
                <a:r>
                  <a:rPr lang="ko-KR" altLang="en-US" dirty="0" err="1"/>
                  <a:t>연구별</a:t>
                </a:r>
                <a:r>
                  <a:rPr lang="ko-KR" altLang="en-US" dirty="0"/>
                  <a:t> 평균이다 즉 우리가 배운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에서는 관측치마다 개개인마다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를 </a:t>
                </a:r>
                <a:r>
                  <a:rPr lang="ko-KR" altLang="en-US" dirty="0" err="1"/>
                  <a:t>적용한거지만</a:t>
                </a:r>
                <a:r>
                  <a:rPr lang="ko-KR" altLang="en-US" dirty="0"/>
                  <a:t> 이 연구는 </a:t>
                </a:r>
                <a:r>
                  <a:rPr lang="ko-KR" altLang="en-US" dirty="0" err="1"/>
                  <a:t>연구별</a:t>
                </a:r>
                <a:r>
                  <a:rPr lang="ko-KR" altLang="en-US" dirty="0"/>
                  <a:t> 평균에 </a:t>
                </a:r>
                <a:r>
                  <a:rPr lang="en-US" altLang="ko-KR" dirty="0"/>
                  <a:t>DP</a:t>
                </a:r>
                <a:r>
                  <a:rPr lang="ko-KR" altLang="en-US" dirty="0"/>
                  <a:t>를 </a:t>
                </a:r>
                <a:r>
                  <a:rPr lang="ko-KR" altLang="en-US" dirty="0" err="1"/>
                  <a:t>적용한것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파란색은 새로운 평균 </a:t>
                </a:r>
                <a:r>
                  <a:rPr lang="ko-KR" altLang="en-US" dirty="0" err="1"/>
                  <a:t>생성항이고</a:t>
                </a:r>
                <a:r>
                  <a:rPr lang="ko-KR" altLang="en-US" dirty="0"/>
                  <a:t> 빨간색은 기존 평균 재사용항</a:t>
                </a:r>
                <a:endParaRPr lang="en-US" altLang="ko-KR" dirty="0"/>
              </a:p>
              <a:p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i="0">
                    <a:latin typeface="Cambria Math" panose="02040503050406030204" pitchFamily="18" charset="0"/>
                  </a:rPr>
                  <a:t>^2</a:t>
                </a:r>
                <a:r>
                  <a:rPr lang="ko-KR" altLang="en-US" dirty="0"/>
                  <a:t>은 </a:t>
                </a:r>
                <a:r>
                  <a:rPr lang="ko-KR" altLang="en-US" dirty="0" err="1"/>
                  <a:t>역감마</a:t>
                </a:r>
                <a:r>
                  <a:rPr lang="ko-KR" altLang="en-US" dirty="0"/>
                  <a:t> 사전분포를 사용하려면 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i="0">
                    <a:latin typeface="Cambria Math" panose="02040503050406030204" pitchFamily="18" charset="0"/>
                  </a:rPr>
                  <a:t>^2</a:t>
                </a:r>
                <a:r>
                  <a:rPr lang="en-US" altLang="ko-K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~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𝐼𝐺(𝑎_0,𝑏_0)</a:t>
                </a:r>
                <a:r>
                  <a:rPr lang="ko-KR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에</a:t>
                </a:r>
                <a:r>
                  <a:rPr lang="ko-KR" altLang="en-US" dirty="0"/>
                  <a:t>서 </a:t>
                </a:r>
                <a:r>
                  <a:rPr lang="ko-KR" altLang="en-US" dirty="0" err="1"/>
                  <a:t>모수들을</a:t>
                </a:r>
                <a:r>
                  <a:rPr lang="ko-KR" altLang="en-US" dirty="0"/>
                  <a:t> 정해야 하는데 이 값들을 어떻게 </a:t>
                </a:r>
                <a:r>
                  <a:rPr lang="ko-KR" altLang="en-US" dirty="0" err="1"/>
                  <a:t>선택하느냐에</a:t>
                </a:r>
                <a:r>
                  <a:rPr lang="ko-KR" altLang="en-US" dirty="0"/>
                  <a:t> 따라 작은 분산과 큰 분산에 부여하는 사전 확률이 달라져서 특이 연구수가 적으면 사전분포 설정이 결과에 크게 영향을 </a:t>
                </a:r>
                <a:r>
                  <a:rPr lang="ko-KR" altLang="en-US" dirty="0" err="1"/>
                  <a:t>줄수도</a:t>
                </a:r>
                <a:r>
                  <a:rPr lang="ko-KR" altLang="en-US" dirty="0"/>
                  <a:t> 있음 따라서 표준편차를 유니폼 분포로 줘서 동일한 사전밀도를 부여</a:t>
                </a:r>
                <a:endParaRPr lang="en-US" altLang="ko-KR" dirty="0"/>
              </a:p>
              <a:p>
                <a:r>
                  <a:rPr lang="ko-KR" altLang="en-US" dirty="0"/>
                  <a:t>그러나 이것도 </a:t>
                </a:r>
                <a:r>
                  <a:rPr lang="en-US" altLang="ko-KR" dirty="0"/>
                  <a:t>10</a:t>
                </a:r>
                <a:r>
                  <a:rPr lang="ko-KR" altLang="en-US" dirty="0"/>
                  <a:t>이라는 사전정보가 </a:t>
                </a:r>
                <a:r>
                  <a:rPr lang="ko-KR" altLang="en-US" dirty="0" err="1"/>
                  <a:t>들어간것</a:t>
                </a:r>
                <a:r>
                  <a:rPr lang="ko-KR" altLang="en-US" dirty="0"/>
                  <a:t> 실제 분석에서 저자는 관측된 연구 효과의 표준편차보다 충분히 큰 상한을 권장함</a:t>
                </a:r>
                <a:endParaRPr lang="en-US" altLang="ko-KR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845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빨간색 항은 </a:t>
            </a:r>
            <a:r>
              <a:rPr lang="ko-KR" altLang="en-US" sz="1600" b="1" dirty="0" err="1">
                <a:solidFill>
                  <a:srgbClr val="FF0000"/>
                </a:solidFill>
              </a:rPr>
              <a:t>기존평균갱신인데</a:t>
            </a:r>
            <a:r>
              <a:rPr lang="ko-KR" altLang="en-US" sz="1600" b="1" dirty="0">
                <a:solidFill>
                  <a:srgbClr val="FF0000"/>
                </a:solidFill>
              </a:rPr>
              <a:t> 델타는 해당 군집의 평균을 나타내고 앞은 그 평균을 얼마나 </a:t>
            </a:r>
            <a:r>
              <a:rPr lang="ko-KR" altLang="en-US" sz="1600" b="1" dirty="0" err="1">
                <a:solidFill>
                  <a:srgbClr val="FF0000"/>
                </a:solidFill>
              </a:rPr>
              <a:t>신뢰할건지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파란색 항은 새로운 평균인데 앞부분은 군집선택</a:t>
            </a:r>
            <a:r>
              <a:rPr lang="en-US" altLang="ko-KR" sz="1600" b="1" dirty="0">
                <a:solidFill>
                  <a:srgbClr val="FF0000"/>
                </a:solidFill>
              </a:rPr>
              <a:t>,</a:t>
            </a:r>
            <a:r>
              <a:rPr lang="ko-KR" altLang="en-US" sz="1600" b="1" dirty="0">
                <a:solidFill>
                  <a:srgbClr val="FF0000"/>
                </a:solidFill>
              </a:rPr>
              <a:t> 뒷부분은 평균값 추론이고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그리고 각각 안에 </a:t>
            </a:r>
            <a:r>
              <a:rPr lang="ko-KR" altLang="en-US" sz="1600" b="1" dirty="0" err="1">
                <a:solidFill>
                  <a:srgbClr val="FF0000"/>
                </a:solidFill>
              </a:rPr>
              <a:t>있는거에서는</a:t>
            </a:r>
            <a:r>
              <a:rPr lang="ko-KR" altLang="en-US" sz="1600" b="1" dirty="0">
                <a:solidFill>
                  <a:srgbClr val="FF0000"/>
                </a:solidFill>
              </a:rPr>
              <a:t> 빨간색과 마찬가지로 첫번째는 평균을 얼마나 </a:t>
            </a:r>
            <a:r>
              <a:rPr lang="ko-KR" altLang="en-US" sz="1600" b="1" dirty="0" err="1">
                <a:solidFill>
                  <a:srgbClr val="FF0000"/>
                </a:solidFill>
              </a:rPr>
              <a:t>신뢰할건지</a:t>
            </a:r>
            <a:r>
              <a:rPr lang="ko-KR" altLang="en-US" sz="1600" b="1" dirty="0">
                <a:solidFill>
                  <a:srgbClr val="FF0000"/>
                </a:solidFill>
              </a:rPr>
              <a:t> 뒤에는 평균을 몇으로 </a:t>
            </a:r>
            <a:r>
              <a:rPr lang="ko-KR" altLang="en-US" sz="1600" b="1" dirty="0" err="1">
                <a:solidFill>
                  <a:srgbClr val="FF0000"/>
                </a:solidFill>
              </a:rPr>
              <a:t>할건지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17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사후예측분포는 간단한 예시를 통해서</a:t>
                </a:r>
                <a:endParaRPr lang="en-US" altLang="ko-KR" dirty="0"/>
              </a:p>
              <a:p>
                <a:r>
                  <a:rPr lang="ko-KR" altLang="en-US" dirty="0"/>
                  <a:t>건강한 사람의 어떤 검사 수치가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𝑌|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𝜇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~𝑁(100,2^2)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이</a:t>
                </a:r>
                <a:r>
                  <a:rPr lang="ko-KR" altLang="en-US" dirty="0"/>
                  <a:t>라고 하고 관측자료를 이용해서 사후분포가 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𝜇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|𝐷~𝑁(100,2^2)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으</a:t>
                </a:r>
                <a:r>
                  <a:rPr lang="ko-KR" altLang="en-US" dirty="0"/>
                  <a:t>로 나왔다</a:t>
                </a:r>
                <a:endParaRPr lang="en-US" altLang="ko-KR" dirty="0"/>
              </a:p>
              <a:p>
                <a:r>
                  <a:rPr lang="ko-KR" altLang="en-US" dirty="0"/>
                  <a:t>새로운 건강한 사람이 온다면 이 사람의 수치는 두가지 변동을 고려해야</a:t>
                </a:r>
                <a:endParaRPr lang="en-US" altLang="ko-KR" dirty="0"/>
              </a:p>
              <a:p>
                <a:pPr marL="228600" indent="-228600">
                  <a:buAutoNum type="arabicPeriod"/>
                </a:pPr>
                <a:r>
                  <a:rPr lang="ko-KR" altLang="en-US" dirty="0"/>
                  <a:t>실제 평균 </a:t>
                </a:r>
                <a:r>
                  <a:rPr lang="ko-KR" altLang="en-US" i="0">
                    <a:latin typeface="Cambria Math" panose="02040503050406030204" pitchFamily="18" charset="0"/>
                  </a:rPr>
                  <a:t>𝜇</a:t>
                </a:r>
                <a:r>
                  <a:rPr lang="ko-KR" altLang="en-US" dirty="0"/>
                  <a:t>를 정확히 모르는 불확실성</a:t>
                </a:r>
                <a:endParaRPr lang="en-US" altLang="ko-KR" dirty="0"/>
              </a:p>
              <a:p>
                <a:pPr marL="228600" indent="-228600">
                  <a:buAutoNum type="arabicPeriod"/>
                </a:pPr>
                <a:r>
                  <a:rPr lang="ko-KR" altLang="en-US" dirty="0"/>
                  <a:t>같은 평균을 가진 건강한 사람들도 측정값이 서로 다른 개인 간 변동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따라서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𝑌_𝑛𝑒𝑤=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𝜇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+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𝜀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, 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𝜀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~𝑁(0,〖10〗^2)</a:t>
                </a:r>
                <a:r>
                  <a:rPr lang="ko-KR" altLang="en-US" dirty="0"/>
                  <a:t>이고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독립이라면 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b="0" i="0">
                    <a:latin typeface="Cambria Math" panose="02040503050406030204" pitchFamily="18" charset="0"/>
                  </a:rPr>
                  <a:t>𝑌_𝑛𝑒𝑤 |𝐷~𝑁(100,2^2+〖10〗^2)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이</a:t>
                </a:r>
                <a:r>
                  <a:rPr lang="ko-KR" altLang="en-US" dirty="0"/>
                  <a:t> 된다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그니까 즉 새 </a:t>
                </a:r>
                <a:r>
                  <a:rPr lang="ko-KR" altLang="en-US" dirty="0" err="1"/>
                  <a:t>관측값의</a:t>
                </a:r>
                <a:r>
                  <a:rPr lang="ko-KR" altLang="en-US" dirty="0"/>
                  <a:t> 조건부분포와 </a:t>
                </a:r>
                <a:r>
                  <a:rPr lang="ko-KR" altLang="en-US" dirty="0" err="1"/>
                  <a:t>모수의</a:t>
                </a:r>
                <a:r>
                  <a:rPr lang="ko-KR" altLang="en-US" dirty="0"/>
                  <a:t> 사후분포가 곱해져야 한다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914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273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연구별</a:t>
            </a:r>
            <a:r>
              <a:rPr lang="ko-KR" altLang="en-US" dirty="0"/>
              <a:t> 실제 평균 </a:t>
            </a:r>
            <a:r>
              <a:rPr lang="ko-KR" altLang="en-US" dirty="0" err="1"/>
              <a:t>쎄타</a:t>
            </a:r>
            <a:r>
              <a:rPr lang="en-US" altLang="ko-KR" dirty="0" err="1"/>
              <a:t>i</a:t>
            </a:r>
            <a:r>
              <a:rPr lang="ko-KR" altLang="en-US" dirty="0"/>
              <a:t>는 정규혼합분포</a:t>
            </a:r>
            <a:r>
              <a:rPr lang="en-US" altLang="ko-KR" dirty="0"/>
              <a:t>, </a:t>
            </a:r>
            <a:r>
              <a:rPr lang="ko-KR" altLang="en-US" dirty="0" err="1"/>
              <a:t>로그노말</a:t>
            </a:r>
            <a:r>
              <a:rPr lang="en-US" altLang="ko-KR" dirty="0"/>
              <a:t>, </a:t>
            </a:r>
            <a:r>
              <a:rPr lang="ko-KR" altLang="en-US" dirty="0"/>
              <a:t>감마 분포에서 생성하고</a:t>
            </a:r>
            <a:r>
              <a:rPr lang="en-US" altLang="ko-KR" dirty="0"/>
              <a:t>(</a:t>
            </a:r>
            <a:r>
              <a:rPr lang="ko-KR" altLang="en-US" dirty="0"/>
              <a:t>이렇게 하는 이유는 실험 데이터가 항상 정규분포를 따르지 않음을 보이려고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연구 </a:t>
            </a:r>
            <a:r>
              <a:rPr lang="en-US" altLang="ko-KR" dirty="0" err="1"/>
              <a:t>i</a:t>
            </a:r>
            <a:r>
              <a:rPr lang="ko-KR" altLang="en-US" dirty="0"/>
              <a:t>에 속한 개인 </a:t>
            </a:r>
            <a:r>
              <a:rPr lang="en-US" altLang="ko-KR" dirty="0"/>
              <a:t>j</a:t>
            </a:r>
            <a:r>
              <a:rPr lang="ko-KR" altLang="en-US" dirty="0"/>
              <a:t>의 측정값은 정규분포에서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알파를 감마분포로 한 이유는 알파는 반드시 양수여야 하므로 </a:t>
            </a:r>
            <a:endParaRPr lang="en-US" altLang="ko-KR" dirty="0"/>
          </a:p>
          <a:p>
            <a:r>
              <a:rPr lang="ko-KR" altLang="en-US" dirty="0"/>
              <a:t>나머지는 딱히 이유는 존재하지 않음 대부분 사전분포와 </a:t>
            </a:r>
            <a:r>
              <a:rPr lang="ko-KR" altLang="en-US" dirty="0" err="1"/>
              <a:t>사후분포간의</a:t>
            </a:r>
            <a:r>
              <a:rPr lang="ko-KR" altLang="en-US" dirty="0"/>
              <a:t> 조건부 </a:t>
            </a:r>
            <a:r>
              <a:rPr lang="ko-KR" altLang="en-US" dirty="0" err="1"/>
              <a:t>켤레성</a:t>
            </a:r>
            <a:r>
              <a:rPr lang="ko-KR" altLang="en-US" dirty="0"/>
              <a:t> 때문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비교 방법들은 빈도주의</a:t>
            </a:r>
            <a:r>
              <a:rPr lang="en-US" altLang="ko-KR" dirty="0"/>
              <a:t>, </a:t>
            </a:r>
            <a:r>
              <a:rPr lang="ko-KR" altLang="en-US" dirty="0"/>
              <a:t>베이지안</a:t>
            </a:r>
            <a:r>
              <a:rPr lang="en-US" altLang="ko-KR" dirty="0"/>
              <a:t>, </a:t>
            </a:r>
            <a:r>
              <a:rPr lang="ko-KR" altLang="en-US" dirty="0"/>
              <a:t>경험적</a:t>
            </a:r>
            <a:r>
              <a:rPr lang="en-US" altLang="ko-KR" dirty="0"/>
              <a:t>, </a:t>
            </a:r>
            <a:r>
              <a:rPr lang="ko-KR" altLang="en-US" dirty="0"/>
              <a:t>고정효과 기반 혼합분포 방법</a:t>
            </a:r>
            <a:r>
              <a:rPr lang="en-US" altLang="ko-KR" dirty="0"/>
              <a:t>, </a:t>
            </a:r>
            <a:r>
              <a:rPr lang="ko-KR" altLang="en-US" dirty="0"/>
              <a:t>제안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923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95%ri</a:t>
            </a:r>
            <a:r>
              <a:rPr lang="ko-KR" altLang="en-US" dirty="0"/>
              <a:t>에 </a:t>
            </a:r>
            <a:r>
              <a:rPr lang="ko-KR" altLang="en-US" dirty="0" err="1"/>
              <a:t>가까울수롥</a:t>
            </a:r>
            <a:r>
              <a:rPr lang="ko-KR" altLang="en-US" dirty="0"/>
              <a:t> 좋고 </a:t>
            </a:r>
            <a:r>
              <a:rPr lang="en-US" altLang="ko-KR" dirty="0"/>
              <a:t>coverage</a:t>
            </a:r>
            <a:r>
              <a:rPr lang="ko-KR" altLang="en-US" dirty="0"/>
              <a:t>가 </a:t>
            </a:r>
            <a:r>
              <a:rPr lang="en-US" altLang="ko-KR" dirty="0"/>
              <a:t>0.95</a:t>
            </a:r>
            <a:r>
              <a:rPr lang="ko-KR" altLang="en-US" dirty="0"/>
              <a:t>에 가까울수록 좋은데 두개를 같이 봐야함</a:t>
            </a:r>
            <a:endParaRPr lang="en-US" altLang="ko-KR" dirty="0"/>
          </a:p>
          <a:p>
            <a:r>
              <a:rPr lang="en-US" altLang="ko-KR" dirty="0"/>
              <a:t>NP</a:t>
            </a:r>
            <a:r>
              <a:rPr lang="ko-KR" altLang="en-US" dirty="0"/>
              <a:t>와 </a:t>
            </a:r>
            <a:r>
              <a:rPr lang="en-US" altLang="ko-KR" dirty="0"/>
              <a:t>NP2</a:t>
            </a:r>
            <a:r>
              <a:rPr lang="ko-KR" altLang="en-US" dirty="0"/>
              <a:t>가 무조건 </a:t>
            </a:r>
            <a:r>
              <a:rPr lang="ko-KR" altLang="en-US" dirty="0" err="1"/>
              <a:t>좋은것도</a:t>
            </a:r>
            <a:r>
              <a:rPr lang="ko-KR" altLang="en-US" dirty="0"/>
              <a:t> 아님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여기서는 연구내 분산이 </a:t>
            </a:r>
            <a:r>
              <a:rPr lang="en-US" altLang="ko-KR" dirty="0"/>
              <a:t>1.25</a:t>
            </a:r>
            <a:r>
              <a:rPr lang="ko-KR" altLang="en-US" dirty="0"/>
              <a:t>로 같음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14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연구내 분산이 다른 상황</a:t>
            </a:r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Np2</a:t>
            </a:r>
            <a:r>
              <a:rPr lang="ko-KR" altLang="en-US" dirty="0"/>
              <a:t>가 </a:t>
            </a:r>
            <a:r>
              <a:rPr lang="ko-KR" altLang="en-US" dirty="0" err="1"/>
              <a:t>좋을것이라고</a:t>
            </a:r>
            <a:r>
              <a:rPr lang="ko-KR" altLang="en-US" dirty="0"/>
              <a:t> 기대가 되는 상황임에도 불구하고 </a:t>
            </a:r>
            <a:r>
              <a:rPr lang="en-US" altLang="ko-KR" dirty="0"/>
              <a:t>NP</a:t>
            </a:r>
            <a:r>
              <a:rPr lang="ko-KR" altLang="en-US" dirty="0"/>
              <a:t>랑 거의 차이가 없음</a:t>
            </a:r>
            <a:endParaRPr lang="en-US" altLang="ko-KR" dirty="0"/>
          </a:p>
          <a:p>
            <a:r>
              <a:rPr lang="ko-KR" altLang="en-US" dirty="0"/>
              <a:t>이러한 원인으로 저자들은 이 논문의 목표가 각 연구의 분산을 정확하게 추정하는게 아니라 새로운 개인의 전체 측정값 분포를 </a:t>
            </a:r>
            <a:r>
              <a:rPr lang="ko-KR" altLang="en-US" dirty="0" err="1"/>
              <a:t>추정하는것이기에</a:t>
            </a:r>
            <a:r>
              <a:rPr lang="ko-KR" altLang="en-US" dirty="0"/>
              <a:t> </a:t>
            </a:r>
            <a:r>
              <a:rPr lang="en-US" altLang="ko-KR" dirty="0"/>
              <a:t>NP2</a:t>
            </a:r>
            <a:r>
              <a:rPr lang="ko-KR" altLang="en-US" dirty="0"/>
              <a:t>의 </a:t>
            </a:r>
            <a:r>
              <a:rPr lang="ko-KR" altLang="en-US" dirty="0" err="1"/>
              <a:t>연구별</a:t>
            </a:r>
            <a:r>
              <a:rPr lang="ko-KR" altLang="en-US" dirty="0"/>
              <a:t> 분산의 차이 추정으로 인한 추가적인 유연성이 최종적인 정확도 개선으로 반드시 이어지는 것은 아님</a:t>
            </a:r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Np2</a:t>
            </a:r>
            <a:r>
              <a:rPr lang="ko-KR" altLang="en-US" dirty="0"/>
              <a:t>는 </a:t>
            </a:r>
            <a:r>
              <a:rPr lang="en-US" altLang="ko-KR" dirty="0"/>
              <a:t>NP</a:t>
            </a:r>
            <a:r>
              <a:rPr lang="ko-KR" altLang="en-US" dirty="0"/>
              <a:t>보다 </a:t>
            </a:r>
            <a:r>
              <a:rPr lang="ko-KR" altLang="en-US" dirty="0" err="1"/>
              <a:t>모수가</a:t>
            </a:r>
            <a:r>
              <a:rPr lang="ko-KR" altLang="en-US" dirty="0"/>
              <a:t> 많고 추정해야 할 구조가 복잡 따라서 연구수가 </a:t>
            </a:r>
            <a:r>
              <a:rPr lang="ko-KR" altLang="en-US" dirty="0" err="1"/>
              <a:t>적을떄</a:t>
            </a:r>
            <a:r>
              <a:rPr lang="ko-KR" altLang="en-US" dirty="0"/>
              <a:t> 추가적인 유연성이 오히려 불확실성을 키움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444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이번엔 </a:t>
            </a:r>
            <a:r>
              <a:rPr lang="ko-KR" altLang="en-US" dirty="0" err="1"/>
              <a:t>정규혼합</a:t>
            </a:r>
            <a:r>
              <a:rPr lang="ko-KR" altLang="en-US" dirty="0"/>
              <a:t> 데이터를 생성한 다음 </a:t>
            </a:r>
            <a:r>
              <a:rPr lang="en-US" altLang="ko-KR" dirty="0"/>
              <a:t>Q1-1.5IQR</a:t>
            </a:r>
            <a:r>
              <a:rPr lang="ko-KR" altLang="en-US" dirty="0"/>
              <a:t>과 </a:t>
            </a:r>
            <a:r>
              <a:rPr lang="en-US" altLang="ko-KR" dirty="0"/>
              <a:t>Q3+1.5IQR</a:t>
            </a:r>
            <a:r>
              <a:rPr lang="ko-KR" altLang="en-US" dirty="0"/>
              <a:t>을 </a:t>
            </a:r>
            <a:r>
              <a:rPr lang="en-US" altLang="ko-KR" dirty="0"/>
              <a:t>2.5%</a:t>
            </a:r>
            <a:r>
              <a:rPr lang="ko-KR" altLang="en-US" dirty="0"/>
              <a:t>만큼 추가</a:t>
            </a:r>
            <a:endParaRPr lang="en-US" altLang="ko-KR" dirty="0"/>
          </a:p>
          <a:p>
            <a:r>
              <a:rPr lang="ko-KR" altLang="en-US" dirty="0"/>
              <a:t>이상치가 추가되어도 </a:t>
            </a:r>
            <a:r>
              <a:rPr lang="en-US" altLang="ko-KR" dirty="0"/>
              <a:t>NP</a:t>
            </a:r>
            <a:r>
              <a:rPr lang="ko-KR" altLang="en-US" dirty="0"/>
              <a:t>와 </a:t>
            </a:r>
            <a:r>
              <a:rPr lang="en-US" altLang="ko-KR" dirty="0"/>
              <a:t>NP2</a:t>
            </a:r>
            <a:r>
              <a:rPr lang="ko-KR" altLang="en-US" dirty="0"/>
              <a:t>가 비교적 안정적이며 다른 방법들은 참고구간을 </a:t>
            </a:r>
            <a:r>
              <a:rPr lang="ko-KR" altLang="en-US" dirty="0" err="1"/>
              <a:t>넓힐수있음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사실 테이블들의 의미는 참고구간을 더 정확하게 추정하는게 아니라 비정규성을 허용하면서도 랜덤효과 모형의 확률적 추론 구조를 유지하는데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05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왼쪽은 사람의 수직 지각 능력을 연구하였고 </a:t>
            </a:r>
            <a:r>
              <a:rPr lang="en-US" altLang="ko-KR" dirty="0"/>
              <a:t>15</a:t>
            </a:r>
            <a:r>
              <a:rPr lang="ko-KR" altLang="en-US" dirty="0"/>
              <a:t>개의 연구</a:t>
            </a:r>
            <a:endParaRPr lang="en-US" altLang="ko-KR" dirty="0"/>
          </a:p>
          <a:p>
            <a:r>
              <a:rPr lang="ko-KR" altLang="en-US" dirty="0" err="1"/>
              <a:t>연구별</a:t>
            </a:r>
            <a:r>
              <a:rPr lang="ko-KR" altLang="en-US" dirty="0"/>
              <a:t> 평균의 분포는 정규성에서 뚜렷한 이탈이 없었고 분석 목적은 정규성 가정이 대체로 </a:t>
            </a:r>
            <a:r>
              <a:rPr lang="ko-KR" altLang="en-US" dirty="0" err="1"/>
              <a:t>성립할때를</a:t>
            </a:r>
            <a:r>
              <a:rPr lang="ko-KR" altLang="en-US" dirty="0"/>
              <a:t> </a:t>
            </a:r>
            <a:r>
              <a:rPr lang="ko-KR" altLang="en-US" dirty="0" err="1"/>
              <a:t>보고자했고</a:t>
            </a:r>
            <a:endParaRPr lang="en-US" altLang="ko-KR" dirty="0"/>
          </a:p>
          <a:p>
            <a:r>
              <a:rPr lang="ko-KR" altLang="en-US" dirty="0"/>
              <a:t>오른쪽은 소아의 수면 중 각성 시간을 연구하였고 </a:t>
            </a:r>
            <a:r>
              <a:rPr lang="en-US" altLang="ko-KR" dirty="0"/>
              <a:t>23</a:t>
            </a:r>
            <a:r>
              <a:rPr lang="ko-KR" altLang="en-US" dirty="0"/>
              <a:t>개의 연구 </a:t>
            </a:r>
            <a:endParaRPr lang="en-US" altLang="ko-KR" dirty="0"/>
          </a:p>
          <a:p>
            <a:r>
              <a:rPr lang="ko-KR" altLang="en-US" dirty="0" err="1"/>
              <a:t>연구별</a:t>
            </a:r>
            <a:r>
              <a:rPr lang="ko-KR" altLang="en-US" dirty="0"/>
              <a:t> 평균의 분포는 </a:t>
            </a:r>
            <a:r>
              <a:rPr lang="ko-KR" altLang="en-US" dirty="0" err="1"/>
              <a:t>로브변호나</a:t>
            </a:r>
            <a:r>
              <a:rPr lang="ko-KR" altLang="en-US" dirty="0"/>
              <a:t> 후 </a:t>
            </a:r>
            <a:r>
              <a:rPr lang="ko-KR" altLang="en-US" dirty="0" err="1"/>
              <a:t>비정규성이었음</a:t>
            </a:r>
            <a:r>
              <a:rPr lang="ko-KR" altLang="en-US" dirty="0"/>
              <a:t> 분석목적은 정규성 가정이 </a:t>
            </a:r>
            <a:r>
              <a:rPr lang="ko-KR" altLang="en-US" dirty="0" err="1"/>
              <a:t>위반될때</a:t>
            </a:r>
            <a:endParaRPr lang="en-US" altLang="ko-KR" dirty="0"/>
          </a:p>
          <a:p>
            <a:r>
              <a:rPr lang="ko-KR" altLang="en-US" dirty="0"/>
              <a:t>단 실제 데이터이므로 시뮬레이션과 달리 참 </a:t>
            </a:r>
            <a:r>
              <a:rPr lang="en-US" altLang="ko-KR" dirty="0"/>
              <a:t>reference interval</a:t>
            </a:r>
            <a:r>
              <a:rPr lang="ko-KR" altLang="en-US" dirty="0"/>
              <a:t>을 알 수는 없음 따라서 어떤 방법이 정확한지는 </a:t>
            </a:r>
            <a:r>
              <a:rPr lang="ko-KR" altLang="en-US" dirty="0" err="1"/>
              <a:t>알수없다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그럼에도 두번째 연구에서는 기존 </a:t>
            </a:r>
            <a:r>
              <a:rPr lang="ko-KR" altLang="en-US" dirty="0" err="1"/>
              <a:t>모수정</a:t>
            </a:r>
            <a:r>
              <a:rPr lang="ko-KR" altLang="en-US" dirty="0"/>
              <a:t> 방법이 연구간 비정규성 때문에 참고구간을 지나치게 넓게 추정하였고 </a:t>
            </a:r>
            <a:r>
              <a:rPr lang="en-US" altLang="ko-KR" dirty="0"/>
              <a:t>NP, Mix, Np2</a:t>
            </a:r>
            <a:r>
              <a:rPr lang="ko-KR" altLang="en-US" dirty="0"/>
              <a:t>는 좀더 좁게 추정하였음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052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실험에서 </a:t>
            </a:r>
            <a:r>
              <a:rPr lang="en-US" altLang="ko-KR" dirty="0"/>
              <a:t>NP</a:t>
            </a:r>
            <a:r>
              <a:rPr lang="ko-KR" altLang="en-US" dirty="0"/>
              <a:t>보다 더 잘 나오는 방법이 있음에도 이 방법들이 제안되고 필요한 이유는 현재 관측된 연구를 바탕으로 참고구간을 조성하는 것과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관측된 연구를 넘어서 모집단 추론을 위한 모형</a:t>
            </a:r>
            <a:r>
              <a:rPr lang="en-US" altLang="ko-KR" dirty="0"/>
              <a:t>(</a:t>
            </a:r>
            <a:r>
              <a:rPr lang="ko-KR" altLang="en-US" dirty="0"/>
              <a:t>제안</a:t>
            </a:r>
            <a:r>
              <a:rPr lang="en-US" altLang="ko-KR" dirty="0"/>
              <a:t>)</a:t>
            </a:r>
            <a:r>
              <a:rPr lang="ko-KR" altLang="en-US" dirty="0"/>
              <a:t>의 차이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651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94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카이제곱분포는</a:t>
            </a:r>
            <a:r>
              <a:rPr lang="ko-KR" altLang="en-US" dirty="0"/>
              <a:t> 감마분포의 특수한 형태로 개인별 </a:t>
            </a:r>
            <a:r>
              <a:rPr lang="ko-KR" altLang="en-US" dirty="0" err="1"/>
              <a:t>관측값이</a:t>
            </a:r>
            <a:r>
              <a:rPr lang="ko-KR" altLang="en-US" dirty="0"/>
              <a:t> 서로 독립이면 위 식이 성립</a:t>
            </a:r>
            <a:endParaRPr lang="en-US" altLang="ko-KR" dirty="0"/>
          </a:p>
          <a:p>
            <a:r>
              <a:rPr lang="ko-KR" altLang="en-US" dirty="0"/>
              <a:t>따라서 저자들이 연구내 정규성 가정에서 유도되는 표본분산의 </a:t>
            </a:r>
            <a:r>
              <a:rPr lang="ko-KR" altLang="en-US" dirty="0" err="1"/>
              <a:t>표집분포로</a:t>
            </a:r>
            <a:r>
              <a:rPr lang="ko-KR" altLang="en-US" dirty="0"/>
              <a:t> 자연스럽게 나오는 감마분포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ECD08-9EC9-43CF-9952-50D12A22BD3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00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4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20.png"/><Relationship Id="rId10" Type="http://schemas.openxmlformats.org/officeDocument/2006/relationships/image" Target="../media/image27.png"/><Relationship Id="rId4" Type="http://schemas.openxmlformats.org/officeDocument/2006/relationships/image" Target="../media/image210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3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1" y="3200700"/>
            <a:ext cx="33991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1200" dirty="0" err="1">
                <a:solidFill>
                  <a:srgbClr val="7878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Wenhao</a:t>
            </a:r>
            <a:r>
              <a:rPr lang="en-US" sz="1200" dirty="0">
                <a:solidFill>
                  <a:srgbClr val="7878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Cao et al. 2024, Statistics in Medicine </a:t>
            </a:r>
            <a:endParaRPr sz="1200" b="0" dirty="0">
              <a:solidFill>
                <a:srgbClr val="7878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1" y="2286000"/>
            <a:ext cx="7794793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050" dirty="0"/>
          </a:p>
          <a:p>
            <a:r>
              <a:rPr lang="en-US" altLang="ko-KR" sz="2800" dirty="0"/>
              <a:t>A Bayesian nonparametric meta‐analysis model for estimating the reference interval</a:t>
            </a:r>
            <a:endParaRPr sz="2800" b="1" dirty="0">
              <a:solidFill>
                <a:srgbClr val="000000"/>
              </a:solidFill>
              <a:latin typeface="Calibri Ligh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6E98AEF-5C43-4CE9-A3F2-3ED33CECF507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5" name="TextBox 4"/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Introduction</a:t>
            </a:r>
            <a:endParaRPr sz="3600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B3FC7-3228-4854-A6F8-F83787F58CB7}"/>
              </a:ext>
            </a:extLst>
          </p:cNvPr>
          <p:cNvSpPr txBox="1"/>
          <p:nvPr/>
        </p:nvSpPr>
        <p:spPr>
          <a:xfrm>
            <a:off x="673508" y="1120676"/>
            <a:ext cx="84704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여러 연구의 결과를 통합함으로써 결합된 모집단에 기반한 구간을 제공할 수 있는 메타분석이 존재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그러나 기존 방법은 일반적으로 </a:t>
            </a:r>
            <a:r>
              <a:rPr lang="ko-KR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연구간 평균이 정규분포를 따른다는 가정</a:t>
            </a:r>
            <a:r>
              <a:rPr lang="en-US" altLang="ko-KR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 내 분산이 동일하다는 가정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있음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 연구에서는 기준 구간 추정을 위한 </a:t>
            </a:r>
            <a:r>
              <a:rPr lang="ko-KR" altLang="en-US" sz="2000" dirty="0" err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랜덤효과메타분석을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확장하기 위한 </a:t>
            </a: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Bayesian nonparametric 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모델을 제안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897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Background</a:t>
            </a:r>
            <a:endParaRPr sz="3600" dirty="0">
              <a:solidFill>
                <a:srgbClr val="00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6F1233-AFD8-474D-AED0-FE2A619ED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48" y="1074559"/>
            <a:ext cx="3657257" cy="31889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94E024-9CA0-46A2-B7D2-DB62AEEE1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563" y="1388662"/>
            <a:ext cx="3225966" cy="29592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839A9D-490C-4BA8-8230-71498D4C54E8}"/>
              </a:ext>
            </a:extLst>
          </p:cNvPr>
          <p:cNvSpPr txBox="1"/>
          <p:nvPr/>
        </p:nvSpPr>
        <p:spPr>
          <a:xfrm>
            <a:off x="673508" y="4699537"/>
            <a:ext cx="84704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혈당</a:t>
            </a: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혈압 등 의학에서는 건강한 사람들의 정상 범위를 정하는 경우가 있음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때 하나의 연구에서 나온 구간을 사용할 경우 불안정할 수 있어 여러 연구를 종합한 구간을 사용해야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925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AF2C2D-0C90-4671-91EE-EC37287509DF}"/>
                  </a:ext>
                </a:extLst>
              </p:cNvPr>
              <p:cNvSpPr txBox="1"/>
              <p:nvPr/>
            </p:nvSpPr>
            <p:spPr>
              <a:xfrm>
                <a:off x="2434362" y="979681"/>
                <a:ext cx="3448636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AF2C2D-0C90-4671-91EE-EC3728750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62" y="979681"/>
                <a:ext cx="3448636" cy="627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0B566B-5997-479B-A27F-BA830F08856D}"/>
                  </a:ext>
                </a:extLst>
              </p:cNvPr>
              <p:cNvSpPr txBox="1"/>
              <p:nvPr/>
            </p:nvSpPr>
            <p:spPr>
              <a:xfrm>
                <a:off x="2460186" y="1219215"/>
                <a:ext cx="276999" cy="353878"/>
              </a:xfrm>
              <a:prstGeom prst="rect">
                <a:avLst/>
              </a:prstGeom>
              <a:noFill/>
            </p:spPr>
            <p:txBody>
              <a:bodyPr vert="eaVert"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0B566B-5997-479B-A27F-BA830F088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186" y="1219215"/>
                <a:ext cx="276999" cy="3538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7FE1DD-69A1-48A3-A59A-2CF88EA1CE80}"/>
                  </a:ext>
                </a:extLst>
              </p:cNvPr>
              <p:cNvSpPr txBox="1"/>
              <p:nvPr/>
            </p:nvSpPr>
            <p:spPr>
              <a:xfrm>
                <a:off x="4158680" y="1245101"/>
                <a:ext cx="276999" cy="353878"/>
              </a:xfrm>
              <a:prstGeom prst="rect">
                <a:avLst/>
              </a:prstGeom>
              <a:noFill/>
            </p:spPr>
            <p:txBody>
              <a:bodyPr vert="eaVert"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7FE1DD-69A1-48A3-A59A-2CF88EA1C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80" y="1245101"/>
                <a:ext cx="276999" cy="353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Random-effects meta-analysis </a:t>
            </a:r>
            <a:endParaRPr sz="360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26336-480F-4A6B-8350-4EF11DBF0963}"/>
              </a:ext>
            </a:extLst>
          </p:cNvPr>
          <p:cNvSpPr txBox="1"/>
          <p:nvPr/>
        </p:nvSpPr>
        <p:spPr>
          <a:xfrm>
            <a:off x="2023054" y="1607673"/>
            <a:ext cx="1259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연구 간 평균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4101D-3BDF-4AC1-B5CE-EE95273EAE9C}"/>
              </a:ext>
            </a:extLst>
          </p:cNvPr>
          <p:cNvSpPr txBox="1"/>
          <p:nvPr/>
        </p:nvSpPr>
        <p:spPr>
          <a:xfrm>
            <a:off x="3748692" y="1607672"/>
            <a:ext cx="1259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연구 내 평균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22574A9-1CB0-455F-96E8-38917AD6A420}"/>
                  </a:ext>
                </a:extLst>
              </p:cNvPr>
              <p:cNvSpPr txBox="1"/>
              <p:nvPr/>
            </p:nvSpPr>
            <p:spPr>
              <a:xfrm>
                <a:off x="673508" y="2307580"/>
                <a:ext cx="8470491" cy="2628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연구 간 평균이 다르다고 놓는 것이 랜덤효과 메타분석 그러나 그것이 정규분포를 </a:t>
                </a:r>
                <a:r>
                  <a:rPr lang="ko-KR" altLang="en-US" sz="2000" dirty="0" err="1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따른다고</a:t>
                </a:r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가정한다는 제한이 존재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𝑖</m:t>
                        </m:r>
                      </m:sub>
                    </m:sSub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)</m:t>
                    </m:r>
                  </m:oMath>
                </a14:m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또한 연구내 분산이 같다는 가정도 존재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(</m:t>
                        </m:r>
                        <m: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𝜎</m:t>
                        </m:r>
                      </m:e>
                      <m:sup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)</m:t>
                    </m:r>
                  </m:oMath>
                </a14:m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본 연구는 이 두가지 가정을 </a:t>
                </a:r>
                <a:r>
                  <a:rPr lang="ko-KR" altLang="en-US" sz="2000" dirty="0" err="1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완화하는데서</a:t>
                </a:r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출발</a:t>
                </a:r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22574A9-1CB0-455F-96E8-38917AD6A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08" y="2307580"/>
                <a:ext cx="8470491" cy="2628861"/>
              </a:xfrm>
              <a:prstGeom prst="rect">
                <a:avLst/>
              </a:prstGeom>
              <a:blipFill>
                <a:blip r:embed="rId6"/>
                <a:stretch>
                  <a:fillRect l="-647" t="-1392" b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91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Model</a:t>
            </a:r>
            <a:r>
              <a:rPr lang="ko-KR" altLang="en-US" sz="3600" dirty="0">
                <a:solidFill>
                  <a:srgbClr val="000000"/>
                </a:solidFill>
              </a:rPr>
              <a:t> </a:t>
            </a:r>
            <a:r>
              <a:rPr lang="en-US" altLang="ko-KR" sz="3600" dirty="0">
                <a:solidFill>
                  <a:srgbClr val="000000"/>
                </a:solidFill>
              </a:rPr>
              <a:t>comparison</a:t>
            </a:r>
            <a:endParaRPr sz="36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41C578-8B04-473C-8A5C-6B89BE54AF20}"/>
                  </a:ext>
                </a:extLst>
              </p:cNvPr>
              <p:cNvSpPr txBox="1"/>
              <p:nvPr/>
            </p:nvSpPr>
            <p:spPr>
              <a:xfrm>
                <a:off x="981011" y="1227964"/>
                <a:ext cx="3831562" cy="697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41C578-8B04-473C-8A5C-6B89BE54A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1" y="1227964"/>
                <a:ext cx="3831562" cy="697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261AAA-87B7-48D2-9566-861E106A5321}"/>
              </a:ext>
            </a:extLst>
          </p:cNvPr>
          <p:cNvSpPr txBox="1"/>
          <p:nvPr/>
        </p:nvSpPr>
        <p:spPr>
          <a:xfrm>
            <a:off x="5311290" y="1376755"/>
            <a:ext cx="3597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parametric random-effect model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D9889A-9309-4F33-A21E-13DB3AAC1894}"/>
                  </a:ext>
                </a:extLst>
              </p:cNvPr>
              <p:cNvSpPr txBox="1"/>
              <p:nvPr/>
            </p:nvSpPr>
            <p:spPr>
              <a:xfrm>
                <a:off x="981011" y="2638970"/>
                <a:ext cx="3739485" cy="697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D9889A-9309-4F33-A21E-13DB3AAC1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1" y="2638970"/>
                <a:ext cx="3739485" cy="6976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F4EA42-46BA-4D4B-8DF7-BD4EEE7B3AB0}"/>
                  </a:ext>
                </a:extLst>
              </p:cNvPr>
              <p:cNvSpPr txBox="1"/>
              <p:nvPr/>
            </p:nvSpPr>
            <p:spPr>
              <a:xfrm>
                <a:off x="4113204" y="3201157"/>
                <a:ext cx="149951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F4EA42-46BA-4D4B-8DF7-BD4EEE7B3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204" y="3201157"/>
                <a:ext cx="1499513" cy="307777"/>
              </a:xfrm>
              <a:prstGeom prst="rect">
                <a:avLst/>
              </a:prstGeom>
              <a:blipFill>
                <a:blip r:embed="rId5"/>
                <a:stretch>
                  <a:fillRect l="-3659" t="-1961" r="-569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DA90C19-906D-4563-A8B8-1765EB17944B}"/>
              </a:ext>
            </a:extLst>
          </p:cNvPr>
          <p:cNvSpPr txBox="1"/>
          <p:nvPr/>
        </p:nvSpPr>
        <p:spPr>
          <a:xfrm>
            <a:off x="6141416" y="2867678"/>
            <a:ext cx="2590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Section 2.1-NP(</a:t>
            </a:r>
            <a:r>
              <a:rPr lang="ko-KR" altLang="en-US" sz="2000" dirty="0" err="1"/>
              <a:t>등분산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DD32D0-93B1-4CA0-A005-F77198E458EA}"/>
                  </a:ext>
                </a:extLst>
              </p:cNvPr>
              <p:cNvSpPr txBox="1"/>
              <p:nvPr/>
            </p:nvSpPr>
            <p:spPr>
              <a:xfrm>
                <a:off x="981011" y="4122974"/>
                <a:ext cx="3795591" cy="707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DD32D0-93B1-4CA0-A005-F77198E45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1" y="4122974"/>
                <a:ext cx="3795591" cy="7079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C4A431-0E64-42F8-A8D2-9A580CBC958F}"/>
                  </a:ext>
                </a:extLst>
              </p:cNvPr>
              <p:cNvSpPr txBox="1"/>
              <p:nvPr/>
            </p:nvSpPr>
            <p:spPr>
              <a:xfrm>
                <a:off x="4173761" y="4685161"/>
                <a:ext cx="149951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C4A431-0E64-42F8-A8D2-9A580CBC9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761" y="4685161"/>
                <a:ext cx="1499513" cy="307777"/>
              </a:xfrm>
              <a:prstGeom prst="rect">
                <a:avLst/>
              </a:prstGeom>
              <a:blipFill>
                <a:blip r:embed="rId7"/>
                <a:stretch>
                  <a:fillRect l="-3659" t="-4000" r="-5691" b="-3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41FB237-CDDE-4310-8C04-755828E48214}"/>
              </a:ext>
            </a:extLst>
          </p:cNvPr>
          <p:cNvSpPr txBox="1"/>
          <p:nvPr/>
        </p:nvSpPr>
        <p:spPr>
          <a:xfrm>
            <a:off x="6141416" y="4351682"/>
            <a:ext cx="1936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Section 2.2-NP2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2DE2356A-1899-46CB-B520-EF3203F78CDD}"/>
                  </a:ext>
                </a:extLst>
              </p:cNvPr>
              <p:cNvSpPr/>
              <p:nvPr/>
            </p:nvSpPr>
            <p:spPr>
              <a:xfrm>
                <a:off x="3844331" y="5058961"/>
                <a:ext cx="11823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2DE2356A-1899-46CB-B520-EF3203F78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331" y="5058961"/>
                <a:ext cx="118237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55D2089-FCEF-4B5A-854A-3FFE00B16266}"/>
                  </a:ext>
                </a:extLst>
              </p:cNvPr>
              <p:cNvSpPr/>
              <p:nvPr/>
            </p:nvSpPr>
            <p:spPr>
              <a:xfrm>
                <a:off x="4092219" y="5442474"/>
                <a:ext cx="18689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55D2089-FCEF-4B5A-854A-3FFE00B162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219" y="5442474"/>
                <a:ext cx="1868973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25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/>
              <p:nvPr/>
            </p:nvSpPr>
            <p:spPr>
              <a:xfrm>
                <a:off x="1108181" y="858615"/>
                <a:ext cx="4479688" cy="83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81" y="858615"/>
                <a:ext cx="4479688" cy="8373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AC968F-3F89-45B0-BCD2-7CEF8A336D63}"/>
                  </a:ext>
                </a:extLst>
              </p:cNvPr>
              <p:cNvSpPr txBox="1"/>
              <p:nvPr/>
            </p:nvSpPr>
            <p:spPr>
              <a:xfrm>
                <a:off x="4845935" y="1511294"/>
                <a:ext cx="17989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AC968F-3F89-45B0-BCD2-7CEF8A336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935" y="1511294"/>
                <a:ext cx="1798954" cy="369332"/>
              </a:xfrm>
              <a:prstGeom prst="rect">
                <a:avLst/>
              </a:prstGeom>
              <a:blipFill>
                <a:blip r:embed="rId4"/>
                <a:stretch>
                  <a:fillRect l="-3729" r="-5763" b="-327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95F4923-B0D7-40EE-96F5-F1A546B8B261}"/>
              </a:ext>
            </a:extLst>
          </p:cNvPr>
          <p:cNvSpPr txBox="1"/>
          <p:nvPr/>
        </p:nvSpPr>
        <p:spPr>
          <a:xfrm>
            <a:off x="6921572" y="1256507"/>
            <a:ext cx="1604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여기서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6CDBB-7037-4719-8521-6DE6032C1E9C}"/>
                  </a:ext>
                </a:extLst>
              </p:cNvPr>
              <p:cNvSpPr txBox="1"/>
              <p:nvPr/>
            </p:nvSpPr>
            <p:spPr>
              <a:xfrm>
                <a:off x="1108179" y="2071931"/>
                <a:ext cx="2935739" cy="9757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e>
                      </m:borderBox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6CDBB-7037-4719-8521-6DE6032C1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79" y="2071931"/>
                <a:ext cx="2935739" cy="9757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79F7A2-87E7-49A4-81E8-B9AD49956E05}"/>
                  </a:ext>
                </a:extLst>
              </p:cNvPr>
              <p:cNvSpPr txBox="1"/>
              <p:nvPr/>
            </p:nvSpPr>
            <p:spPr>
              <a:xfrm>
                <a:off x="6201973" y="2363234"/>
                <a:ext cx="21426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/>
                  <a:t>각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/>
                  <a:t>는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79F7A2-87E7-49A4-81E8-B9AD49956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973" y="2363234"/>
                <a:ext cx="2142683" cy="400110"/>
              </a:xfrm>
              <a:prstGeom prst="rect">
                <a:avLst/>
              </a:prstGeom>
              <a:blipFill>
                <a:blip r:embed="rId6"/>
                <a:stretch>
                  <a:fillRect l="-2841" t="-12308" b="-24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A82886-5D51-40FE-8C7A-79813D9F9778}"/>
                  </a:ext>
                </a:extLst>
              </p:cNvPr>
              <p:cNvSpPr txBox="1"/>
              <p:nvPr/>
            </p:nvSpPr>
            <p:spPr>
              <a:xfrm>
                <a:off x="1108179" y="3429000"/>
                <a:ext cx="4396845" cy="884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chr m:val="∏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𝐵𝑒𝑡𝑎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borderBox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A82886-5D51-40FE-8C7A-79813D9F9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79" y="3429000"/>
                <a:ext cx="4396845" cy="884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F0348D-0A27-45F5-A0CA-06FB47F98744}"/>
                  </a:ext>
                </a:extLst>
              </p:cNvPr>
              <p:cNvSpPr/>
              <p:nvPr/>
            </p:nvSpPr>
            <p:spPr>
              <a:xfrm>
                <a:off x="1108179" y="4732719"/>
                <a:ext cx="4824206" cy="950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연</m:t>
                    </m:r>
                  </m:oMath>
                </a14:m>
                <a:r>
                  <a:rPr lang="ko-KR" altLang="en-US" dirty="0"/>
                  <a:t>구 평균이 가질 수 있는 잠재적인 값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그 값이 선택될 확률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확률질량을 정확히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에 두는 </a:t>
                </a:r>
                <a:r>
                  <a:rPr lang="ko-KR" altLang="en-US" dirty="0" err="1"/>
                  <a:t>점질량</a:t>
                </a:r>
                <a:r>
                  <a:rPr lang="ko-KR" altLang="en-US" dirty="0"/>
                  <a:t> 분포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F0348D-0A27-45F5-A0CA-06FB47F98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79" y="4732719"/>
                <a:ext cx="4824206" cy="950709"/>
              </a:xfrm>
              <a:prstGeom prst="rect">
                <a:avLst/>
              </a:prstGeom>
              <a:blipFill>
                <a:blip r:embed="rId8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959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F57951-1434-4123-8CA1-A27588F75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998" y="2610773"/>
            <a:ext cx="6886002" cy="38754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Stick-breaking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6CDBB-7037-4719-8521-6DE6032C1E9C}"/>
                  </a:ext>
                </a:extLst>
              </p:cNvPr>
              <p:cNvSpPr txBox="1"/>
              <p:nvPr/>
            </p:nvSpPr>
            <p:spPr>
              <a:xfrm>
                <a:off x="654006" y="945584"/>
                <a:ext cx="2935739" cy="9757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e>
                      </m:borderBox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6CDBB-7037-4719-8521-6DE6032C1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06" y="945584"/>
                <a:ext cx="2935739" cy="9757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209718-C54F-4D84-81A5-E4F6EDA5A906}"/>
                  </a:ext>
                </a:extLst>
              </p:cNvPr>
              <p:cNvSpPr txBox="1"/>
              <p:nvPr/>
            </p:nvSpPr>
            <p:spPr>
              <a:xfrm>
                <a:off x="3769265" y="1156443"/>
                <a:ext cx="5033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209718-C54F-4D84-81A5-E4F6EDA5A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65" y="1156443"/>
                <a:ext cx="50334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9BD195-FD23-440B-81DF-F916A7F4BA55}"/>
                  </a:ext>
                </a:extLst>
              </p:cNvPr>
              <p:cNvSpPr txBox="1"/>
              <p:nvPr/>
            </p:nvSpPr>
            <p:spPr>
              <a:xfrm>
                <a:off x="4403449" y="991750"/>
                <a:ext cx="3306867" cy="883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nary>
                        </m:e>
                      </m:borderBox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9BD195-FD23-440B-81DF-F916A7F4B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449" y="991750"/>
                <a:ext cx="3306867" cy="883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C788E39-F24A-4D57-A370-53E0B3A01CD8}"/>
              </a:ext>
            </a:extLst>
          </p:cNvPr>
          <p:cNvSpPr txBox="1"/>
          <p:nvPr/>
        </p:nvSpPr>
        <p:spPr>
          <a:xfrm>
            <a:off x="523637" y="2275243"/>
            <a:ext cx="84704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DP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이론적으로 무한개의 집단을 설정할 수 있으나 계산상 필요한 적절한 </a:t>
            </a: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개를 선택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71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9072AC3-D760-45B6-9EF4-932A6253C9D8}"/>
              </a:ext>
            </a:extLst>
          </p:cNvPr>
          <p:cNvSpPr/>
          <p:nvPr/>
        </p:nvSpPr>
        <p:spPr>
          <a:xfrm>
            <a:off x="5916347" y="981010"/>
            <a:ext cx="2473808" cy="10463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0628D59-A69C-427C-A0C7-F2126FDD0C41}"/>
              </a:ext>
            </a:extLst>
          </p:cNvPr>
          <p:cNvSpPr/>
          <p:nvPr/>
        </p:nvSpPr>
        <p:spPr>
          <a:xfrm>
            <a:off x="3445653" y="1066528"/>
            <a:ext cx="2173970" cy="9346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/>
              <a:t>Conditional prior predictive distribution</a:t>
            </a:r>
            <a:endParaRPr lang="en-US" altLang="ko-KR" sz="36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/>
              <p:nvPr/>
            </p:nvSpPr>
            <p:spPr>
              <a:xfrm>
                <a:off x="981011" y="963163"/>
                <a:ext cx="7420942" cy="1093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−1+</m:t>
                          </m:r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−1+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1" y="963163"/>
                <a:ext cx="7420942" cy="1093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79F7A2-87E7-49A4-81E8-B9AD49956E05}"/>
                  </a:ext>
                </a:extLst>
              </p:cNvPr>
              <p:cNvSpPr txBox="1"/>
              <p:nvPr/>
            </p:nvSpPr>
            <p:spPr>
              <a:xfrm>
                <a:off x="534732" y="5003791"/>
                <a:ext cx="2644155" cy="84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base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/>
                  <a:t>는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 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79F7A2-87E7-49A4-81E8-B9AD49956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32" y="5003791"/>
                <a:ext cx="2644155" cy="843051"/>
              </a:xfrm>
              <a:prstGeom prst="rect">
                <a:avLst/>
              </a:prstGeom>
              <a:blipFill>
                <a:blip r:embed="rId4"/>
                <a:stretch>
                  <a:fillRect l="-2540" t="-5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F0348D-0A27-45F5-A0CA-06FB47F98744}"/>
                  </a:ext>
                </a:extLst>
              </p:cNvPr>
              <p:cNvSpPr/>
              <p:nvPr/>
            </p:nvSpPr>
            <p:spPr>
              <a:xfrm>
                <a:off x="1108179" y="2177707"/>
                <a:ext cx="410747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확률밀도함수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: s</a:t>
                </a:r>
                <a:r>
                  <a:rPr lang="ko-KR" altLang="en-US" dirty="0"/>
                  <a:t>에 확률질량이 집중된 </a:t>
                </a:r>
                <a:r>
                  <a:rPr lang="en-US" altLang="ko-KR" dirty="0"/>
                  <a:t>Dirac </a:t>
                </a:r>
                <a:r>
                  <a:rPr lang="ko-KR" altLang="en-US" dirty="0"/>
                  <a:t>분포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F0348D-0A27-45F5-A0CA-06FB47F98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79" y="2177707"/>
                <a:ext cx="4107471" cy="646331"/>
              </a:xfrm>
              <a:prstGeom prst="rect">
                <a:avLst/>
              </a:prstGeom>
              <a:blipFill>
                <a:blip r:embed="rId5"/>
                <a:stretch>
                  <a:fillRect l="-445" t="-6604" r="-29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987D1A-2E88-4E59-8073-C8D6B68987CC}"/>
                  </a:ext>
                </a:extLst>
              </p:cNvPr>
              <p:cNvSpPr txBox="1"/>
              <p:nvPr/>
            </p:nvSpPr>
            <p:spPr>
              <a:xfrm>
                <a:off x="475192" y="3781588"/>
                <a:ext cx="847049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𝐺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는 미지의 분포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𝐺</m:t>
                    </m:r>
                  </m:oMath>
                </a14:m>
                <a:r>
                  <a:rPr lang="ko-KR" altLang="en-US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의 사전적 중심을 지정하며 정규 기저분포를 사용하여 조건부 켤레성을 활용</a:t>
                </a:r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987D1A-2E88-4E59-8073-C8D6B6898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92" y="3781588"/>
                <a:ext cx="8470491" cy="707886"/>
              </a:xfrm>
              <a:prstGeom prst="rect">
                <a:avLst/>
              </a:prstGeom>
              <a:blipFill>
                <a:blip r:embed="rId6"/>
                <a:stretch>
                  <a:fillRect l="-648" t="-3448" b="-146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4E257B2E-7C8F-4EC9-BD7A-5C21AE5F5187}"/>
                  </a:ext>
                </a:extLst>
              </p:cNvPr>
              <p:cNvSpPr/>
              <p:nvPr/>
            </p:nvSpPr>
            <p:spPr>
              <a:xfrm>
                <a:off x="3293944" y="4921816"/>
                <a:ext cx="2343847" cy="6515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⇐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정</m:t>
                    </m:r>
                  </m:oMath>
                </a14:m>
                <a:r>
                  <a:rPr lang="ko-KR" altLang="en-US" dirty="0"/>
                  <a:t>규 사전분포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ko-KR" altLang="en-US" dirty="0" err="1"/>
                  <a:t>역감마</a:t>
                </a:r>
                <a:r>
                  <a:rPr lang="ko-KR" altLang="en-US" dirty="0"/>
                  <a:t> 사전분포</a:t>
                </a: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4E257B2E-7C8F-4EC9-BD7A-5C21AE5F5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944" y="4921816"/>
                <a:ext cx="2343847" cy="651525"/>
              </a:xfrm>
              <a:prstGeom prst="rect">
                <a:avLst/>
              </a:prstGeom>
              <a:blipFill>
                <a:blip r:embed="rId7"/>
                <a:stretch>
                  <a:fillRect t="-5607" r="-1818" b="-121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26C1D268-B84D-4A3B-A029-C21C06DB31E6}"/>
                  </a:ext>
                </a:extLst>
              </p:cNvPr>
              <p:cNvSpPr/>
              <p:nvPr/>
            </p:nvSpPr>
            <p:spPr>
              <a:xfrm>
                <a:off x="3024607" y="5594289"/>
                <a:ext cx="2882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조</m:t>
                    </m:r>
                  </m:oMath>
                </a14:m>
                <a:r>
                  <a:rPr lang="ko-KR" altLang="en-US" dirty="0"/>
                  <a:t>건부 켤레 사전분포 구성</a:t>
                </a: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26C1D268-B84D-4A3B-A029-C21C06DB3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607" y="5594289"/>
                <a:ext cx="2882520" cy="369332"/>
              </a:xfrm>
              <a:prstGeom prst="rect">
                <a:avLst/>
              </a:prstGeom>
              <a:blipFill>
                <a:blip r:embed="rId8"/>
                <a:stretch>
                  <a:fillRect t="-13333" r="-1268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1C957B1-4AC3-4ED6-9A16-4CBA37836157}"/>
                  </a:ext>
                </a:extLst>
              </p:cNvPr>
              <p:cNvSpPr/>
              <p:nvPr/>
            </p:nvSpPr>
            <p:spPr>
              <a:xfrm>
                <a:off x="5758903" y="5224957"/>
                <a:ext cx="5926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𝑏𝑢𝑡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1C957B1-4AC3-4ED6-9A16-4CBA378361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903" y="5224957"/>
                <a:ext cx="59266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6B3739CD-A302-44DE-BB9C-C60DC0019225}"/>
                  </a:ext>
                </a:extLst>
              </p:cNvPr>
              <p:cNvSpPr/>
              <p:nvPr/>
            </p:nvSpPr>
            <p:spPr>
              <a:xfrm>
                <a:off x="6583160" y="4775420"/>
                <a:ext cx="184333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에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대한 정보가 부족하면 문제가 되므로</a:t>
                </a:r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(0,10)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6B3739CD-A302-44DE-BB9C-C60DC00192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160" y="4775420"/>
                <a:ext cx="1843331" cy="1200329"/>
              </a:xfrm>
              <a:prstGeom prst="rect">
                <a:avLst/>
              </a:prstGeom>
              <a:blipFill>
                <a:blip r:embed="rId10"/>
                <a:stretch>
                  <a:fillRect l="-2980" t="-3553" r="-2649" b="-35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499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884C34E-2EBF-4E68-B1FB-59641E6A99D3}"/>
              </a:ext>
            </a:extLst>
          </p:cNvPr>
          <p:cNvSpPr/>
          <p:nvPr/>
        </p:nvSpPr>
        <p:spPr>
          <a:xfrm>
            <a:off x="854608" y="2509802"/>
            <a:ext cx="3166330" cy="8511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A044773-A5D3-4942-B3C3-A4E8562F589A}"/>
              </a:ext>
            </a:extLst>
          </p:cNvPr>
          <p:cNvSpPr/>
          <p:nvPr/>
        </p:nvSpPr>
        <p:spPr>
          <a:xfrm>
            <a:off x="854608" y="1461283"/>
            <a:ext cx="2906786" cy="10022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5F89DE3-898A-427E-AE6C-DEE63E4C740D}"/>
              </a:ext>
            </a:extLst>
          </p:cNvPr>
          <p:cNvSpPr/>
          <p:nvPr/>
        </p:nvSpPr>
        <p:spPr>
          <a:xfrm>
            <a:off x="3954241" y="1297107"/>
            <a:ext cx="4681086" cy="1208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/>
              <p:nvPr/>
            </p:nvSpPr>
            <p:spPr>
              <a:xfrm>
                <a:off x="532278" y="938942"/>
                <a:ext cx="8103049" cy="2384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  <m:r>
                            <a:rPr lang="ko-KR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ko-KR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8" y="938942"/>
                <a:ext cx="8103049" cy="2384692"/>
              </a:xfrm>
              <a:prstGeom prst="rect">
                <a:avLst/>
              </a:prstGeom>
              <a:blipFill>
                <a:blip r:embed="rId3"/>
                <a:stretch>
                  <a:fillRect l="-1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Conditional posterior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3A43E82E-33A5-4AD2-A8DD-F9A9F60B7958}"/>
                  </a:ext>
                </a:extLst>
              </p:cNvPr>
              <p:cNvSpPr/>
              <p:nvPr/>
            </p:nvSpPr>
            <p:spPr>
              <a:xfrm>
                <a:off x="1570277" y="3812222"/>
                <a:ext cx="25578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3A43E82E-33A5-4AD2-A8DD-F9A9F60B79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277" y="3812222"/>
                <a:ext cx="255788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046E60A7-3825-4620-AC75-B78060D236E9}"/>
              </a:ext>
            </a:extLst>
          </p:cNvPr>
          <p:cNvSpPr/>
          <p:nvPr/>
        </p:nvSpPr>
        <p:spPr>
          <a:xfrm>
            <a:off x="3857436" y="4971789"/>
            <a:ext cx="1017346" cy="36933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DADE1F8-0071-4508-A716-8A3BF502E24F}"/>
                  </a:ext>
                </a:extLst>
              </p:cNvPr>
              <p:cNvSpPr/>
              <p:nvPr/>
            </p:nvSpPr>
            <p:spPr>
              <a:xfrm>
                <a:off x="3634142" y="5874080"/>
                <a:ext cx="17103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DADE1F8-0071-4508-A716-8A3BF502E2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142" y="5874080"/>
                <a:ext cx="1710340" cy="400110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EEF556-B9C1-400F-A6C1-73BCE38FEA42}"/>
              </a:ext>
            </a:extLst>
          </p:cNvPr>
          <p:cNvSpPr/>
          <p:nvPr/>
        </p:nvSpPr>
        <p:spPr>
          <a:xfrm>
            <a:off x="1444970" y="5427911"/>
            <a:ext cx="6584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조건부 사후분포를 이용해 깁스 샘플링으로 결합 사후분포 추론</a:t>
            </a:r>
            <a:endParaRPr lang="en-US" altLang="ko-KR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F371A2-CA59-4619-A1B3-B44B4895F7BC}"/>
              </a:ext>
            </a:extLst>
          </p:cNvPr>
          <p:cNvSpPr/>
          <p:nvPr/>
        </p:nvSpPr>
        <p:spPr>
          <a:xfrm>
            <a:off x="673108" y="3437792"/>
            <a:ext cx="7632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다른 파라미터들도 마찬가지로 조건부 사후추론 수행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A691CD8-0810-48FB-9E93-FDB3344F5A7C}"/>
                  </a:ext>
                </a:extLst>
              </p:cNvPr>
              <p:cNvSpPr/>
              <p:nvPr/>
            </p:nvSpPr>
            <p:spPr>
              <a:xfrm>
                <a:off x="4874782" y="3805179"/>
                <a:ext cx="255788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A691CD8-0810-48FB-9E93-FDB3344F5A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782" y="3805179"/>
                <a:ext cx="2557880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082E9AD-678E-484F-BFBD-B8BF8835F57B}"/>
                  </a:ext>
                </a:extLst>
              </p:cNvPr>
              <p:cNvSpPr/>
              <p:nvPr/>
            </p:nvSpPr>
            <p:spPr>
              <a:xfrm>
                <a:off x="4874782" y="4321837"/>
                <a:ext cx="255788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082E9AD-678E-484F-BFBD-B8BF8835F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782" y="4321837"/>
                <a:ext cx="2557880" cy="4001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BFA470E-7961-44CD-B0B6-E26E6D50A1F1}"/>
                  </a:ext>
                </a:extLst>
              </p:cNvPr>
              <p:cNvSpPr/>
              <p:nvPr/>
            </p:nvSpPr>
            <p:spPr>
              <a:xfrm>
                <a:off x="1522443" y="4321837"/>
                <a:ext cx="26535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BFA470E-7961-44CD-B0B6-E26E6D50A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443" y="4321837"/>
                <a:ext cx="2653547" cy="4001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02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Posterior predictive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57BE5-DC1A-4B9C-84B2-3D6F357623D3}"/>
                  </a:ext>
                </a:extLst>
              </p:cNvPr>
              <p:cNvSpPr txBox="1"/>
              <p:nvPr/>
            </p:nvSpPr>
            <p:spPr>
              <a:xfrm>
                <a:off x="532278" y="1374944"/>
                <a:ext cx="8103049" cy="9687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𝑛𝑒𝑤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57BE5-DC1A-4B9C-84B2-3D6F3576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8" y="1374944"/>
                <a:ext cx="8103049" cy="968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34824E-11BA-41A5-82D4-C17F88BA0415}"/>
                  </a:ext>
                </a:extLst>
              </p:cNvPr>
              <p:cNvSpPr txBox="1"/>
              <p:nvPr/>
            </p:nvSpPr>
            <p:spPr>
              <a:xfrm>
                <a:off x="3579043" y="1553583"/>
                <a:ext cx="1676934" cy="790088"/>
              </a:xfrm>
              <a:prstGeom prst="rect">
                <a:avLst/>
              </a:prstGeom>
              <a:noFill/>
            </p:spPr>
            <p:txBody>
              <a:bodyPr vert="eaVert"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34824E-11BA-41A5-82D4-C17F88BA0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043" y="1553583"/>
                <a:ext cx="1676934" cy="790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E71EB3-D438-4065-A691-4142A9F2A9EA}"/>
              </a:ext>
            </a:extLst>
          </p:cNvPr>
          <p:cNvSpPr txBox="1"/>
          <p:nvPr/>
        </p:nvSpPr>
        <p:spPr>
          <a:xfrm>
            <a:off x="3579043" y="2299113"/>
            <a:ext cx="1676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새로운 환자에 대한 불확실성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22DD04-C001-4C62-85D2-322F056ECCB8}"/>
                  </a:ext>
                </a:extLst>
              </p:cNvPr>
              <p:cNvSpPr txBox="1"/>
              <p:nvPr/>
            </p:nvSpPr>
            <p:spPr>
              <a:xfrm>
                <a:off x="5645022" y="1536706"/>
                <a:ext cx="1676934" cy="790088"/>
              </a:xfrm>
              <a:prstGeom prst="rect">
                <a:avLst/>
              </a:prstGeom>
              <a:noFill/>
            </p:spPr>
            <p:txBody>
              <a:bodyPr vert="eaVert"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22DD04-C001-4C62-85D2-322F056E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022" y="1536706"/>
                <a:ext cx="1676934" cy="790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161B91F-713E-49DB-A91F-65D110C1598E}"/>
              </a:ext>
            </a:extLst>
          </p:cNvPr>
          <p:cNvSpPr txBox="1"/>
          <p:nvPr/>
        </p:nvSpPr>
        <p:spPr>
          <a:xfrm>
            <a:off x="5369567" y="2372499"/>
            <a:ext cx="222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결합 사후밀도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3D13B-E6B5-477D-A6CE-19365C6E31F3}"/>
              </a:ext>
            </a:extLst>
          </p:cNvPr>
          <p:cNvSpPr txBox="1"/>
          <p:nvPr/>
        </p:nvSpPr>
        <p:spPr>
          <a:xfrm>
            <a:off x="475192" y="3095890"/>
            <a:ext cx="8470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즉</a:t>
            </a: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err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모수들이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주어졌을 때 새로운 개인의 예측분포는 하나의 정규분포로 표현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65F198-7F71-4675-B328-AC08250BE4A2}"/>
                  </a:ext>
                </a:extLst>
              </p:cNvPr>
              <p:cNvSpPr txBox="1"/>
              <p:nvPr/>
            </p:nvSpPr>
            <p:spPr>
              <a:xfrm>
                <a:off x="849116" y="3833678"/>
                <a:ext cx="10721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65F198-7F71-4675-B328-AC08250B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16" y="3833678"/>
                <a:ext cx="1072153" cy="276999"/>
              </a:xfrm>
              <a:prstGeom prst="rect">
                <a:avLst/>
              </a:prstGeom>
              <a:blipFill>
                <a:blip r:embed="rId8"/>
                <a:stretch>
                  <a:fillRect l="-4545" t="-2222" r="-4545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7F30F-4178-48CE-A1E3-A076B82AD7A8}"/>
                  </a:ext>
                </a:extLst>
              </p:cNvPr>
              <p:cNvSpPr txBox="1"/>
              <p:nvPr/>
            </p:nvSpPr>
            <p:spPr>
              <a:xfrm>
                <a:off x="2542976" y="3815095"/>
                <a:ext cx="1274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7F30F-4178-48CE-A1E3-A076B82AD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976" y="3815095"/>
                <a:ext cx="1274323" cy="276999"/>
              </a:xfrm>
              <a:prstGeom prst="rect">
                <a:avLst/>
              </a:prstGeom>
              <a:blipFill>
                <a:blip r:embed="rId9"/>
                <a:stretch>
                  <a:fillRect l="-6220" t="-28889" r="-11005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F73FCD-BCDF-4255-BD69-7C3A6640F457}"/>
              </a:ext>
            </a:extLst>
          </p:cNvPr>
          <p:cNvSpPr/>
          <p:nvPr/>
        </p:nvSpPr>
        <p:spPr>
          <a:xfrm>
            <a:off x="6338154" y="3761469"/>
            <a:ext cx="1742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Dirichlet process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07E80A-A2B9-4825-AA49-A71B4CC8929B}"/>
                  </a:ext>
                </a:extLst>
              </p:cNvPr>
              <p:cNvSpPr txBox="1"/>
              <p:nvPr/>
            </p:nvSpPr>
            <p:spPr>
              <a:xfrm>
                <a:off x="466284" y="4208472"/>
                <a:ext cx="8470491" cy="1042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nary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𝑛𝑒𝑤</m:t>
                                      </m:r>
                                    </m:sub>
                                  </m:s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el-GR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𝑑𝐺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07E80A-A2B9-4825-AA49-A71B4CC89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84" y="4208472"/>
                <a:ext cx="8470491" cy="10423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6615DD-D136-4FCC-97F9-13DE4E0B3019}"/>
                  </a:ext>
                </a:extLst>
              </p:cNvPr>
              <p:cNvSpPr txBox="1"/>
              <p:nvPr/>
            </p:nvSpPr>
            <p:spPr>
              <a:xfrm>
                <a:off x="2715762" y="4640477"/>
                <a:ext cx="3403496" cy="937885"/>
              </a:xfrm>
              <a:prstGeom prst="rect">
                <a:avLst/>
              </a:prstGeom>
              <a:noFill/>
            </p:spPr>
            <p:txBody>
              <a:bodyPr vert="eaVert"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sz="4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  <m:mr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6615DD-D136-4FCC-97F9-13DE4E0B3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762" y="4640477"/>
                <a:ext cx="3403496" cy="9378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D5114FB-5100-4E2F-B963-2ABC7B6D2EE2}"/>
              </a:ext>
            </a:extLst>
          </p:cNvPr>
          <p:cNvSpPr txBox="1"/>
          <p:nvPr/>
        </p:nvSpPr>
        <p:spPr>
          <a:xfrm>
            <a:off x="2892012" y="5453110"/>
            <a:ext cx="3359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DP</a:t>
            </a:r>
            <a:r>
              <a:rPr lang="ko-KR" altLang="en-US" dirty="0"/>
              <a:t>에 따른 정규 혼합 예측 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F758CC-9187-4FDB-96B0-2974CB648BEF}"/>
                  </a:ext>
                </a:extLst>
              </p:cNvPr>
              <p:cNvSpPr txBox="1"/>
              <p:nvPr/>
            </p:nvSpPr>
            <p:spPr>
              <a:xfrm>
                <a:off x="6386598" y="4629711"/>
                <a:ext cx="2279278" cy="917815"/>
              </a:xfrm>
              <a:prstGeom prst="rect">
                <a:avLst/>
              </a:prstGeom>
              <a:noFill/>
            </p:spPr>
            <p:txBody>
              <a:bodyPr vert="eaVert"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F758CC-9187-4FDB-96B0-2974CB648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598" y="4629711"/>
                <a:ext cx="2279278" cy="9178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47457F0-CCE0-44BA-B122-EEE54EFFDE03}"/>
              </a:ext>
            </a:extLst>
          </p:cNvPr>
          <p:cNvSpPr txBox="1"/>
          <p:nvPr/>
        </p:nvSpPr>
        <p:spPr>
          <a:xfrm>
            <a:off x="6892933" y="5451883"/>
            <a:ext cx="16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결합 사후분포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4BC9E2-D9BB-41C9-BCC6-FACBE9D6B28C}"/>
              </a:ext>
            </a:extLst>
          </p:cNvPr>
          <p:cNvSpPr txBox="1"/>
          <p:nvPr/>
        </p:nvSpPr>
        <p:spPr>
          <a:xfrm>
            <a:off x="475192" y="5773122"/>
            <a:ext cx="84704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변동을 하나의 평균 주변에서만 설명하는 것이 아니라 다른 연구의 평균을 반영한 정규 혼합분포로 표현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672059-BDBB-439D-AEBD-719D74332100}"/>
                  </a:ext>
                </a:extLst>
              </p:cNvPr>
              <p:cNvSpPr txBox="1"/>
              <p:nvPr/>
            </p:nvSpPr>
            <p:spPr>
              <a:xfrm>
                <a:off x="4229442" y="3598546"/>
                <a:ext cx="1465273" cy="755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672059-BDBB-439D-AEBD-719D74332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42" y="3598546"/>
                <a:ext cx="1465273" cy="7552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43323F0-D901-4BAB-8197-54B64D58D515}"/>
              </a:ext>
            </a:extLst>
          </p:cNvPr>
          <p:cNvCxnSpPr>
            <a:cxnSpLocks/>
          </p:cNvCxnSpPr>
          <p:nvPr/>
        </p:nvCxnSpPr>
        <p:spPr>
          <a:xfrm>
            <a:off x="357282" y="3536486"/>
            <a:ext cx="882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2EB09A-48E3-46E4-A6CA-013D950EC542}"/>
              </a:ext>
            </a:extLst>
          </p:cNvPr>
          <p:cNvSpPr/>
          <p:nvPr/>
        </p:nvSpPr>
        <p:spPr>
          <a:xfrm>
            <a:off x="5694715" y="921415"/>
            <a:ext cx="3254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parametric random-effect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CDD103-4861-46F0-8664-18CA9F568949}"/>
                  </a:ext>
                </a:extLst>
              </p:cNvPr>
              <p:cNvSpPr txBox="1"/>
              <p:nvPr/>
            </p:nvSpPr>
            <p:spPr>
              <a:xfrm>
                <a:off x="466284" y="967581"/>
                <a:ext cx="20172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CDD103-4861-46F0-8664-18CA9F568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84" y="967581"/>
                <a:ext cx="2017219" cy="276999"/>
              </a:xfrm>
              <a:prstGeom prst="rect">
                <a:avLst/>
              </a:prstGeom>
              <a:blipFill>
                <a:blip r:embed="rId14"/>
                <a:stretch>
                  <a:fillRect l="-2115" t="-4444" r="-3927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4BAC39-662E-4E8D-9A60-5094D1E02C96}"/>
                  </a:ext>
                </a:extLst>
              </p:cNvPr>
              <p:cNvSpPr txBox="1"/>
              <p:nvPr/>
            </p:nvSpPr>
            <p:spPr>
              <a:xfrm>
                <a:off x="2708228" y="963071"/>
                <a:ext cx="27326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4BAC39-662E-4E8D-9A60-5094D1E02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228" y="963071"/>
                <a:ext cx="2732671" cy="276999"/>
              </a:xfrm>
              <a:prstGeom prst="rect">
                <a:avLst/>
              </a:prstGeom>
              <a:blipFill>
                <a:blip r:embed="rId15"/>
                <a:stretch>
                  <a:fillRect l="-1559" t="-4444" r="-2673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216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NP-2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6CE9AB-18E6-427F-BB9A-ACB1A3F9A991}"/>
                  </a:ext>
                </a:extLst>
              </p:cNvPr>
              <p:cNvSpPr txBox="1"/>
              <p:nvPr/>
            </p:nvSpPr>
            <p:spPr>
              <a:xfrm>
                <a:off x="2022580" y="1050652"/>
                <a:ext cx="4872168" cy="707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6CE9AB-18E6-427F-BB9A-ACB1A3F9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580" y="1050652"/>
                <a:ext cx="4872168" cy="7079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CEDAB4-B85C-4F42-91BD-3305CB8220C7}"/>
                  </a:ext>
                </a:extLst>
              </p:cNvPr>
              <p:cNvSpPr txBox="1"/>
              <p:nvPr/>
            </p:nvSpPr>
            <p:spPr>
              <a:xfrm>
                <a:off x="4082503" y="1897992"/>
                <a:ext cx="32065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CEDAB4-B85C-4F42-91BD-3305CB82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503" y="1897992"/>
                <a:ext cx="3206583" cy="307777"/>
              </a:xfrm>
              <a:prstGeom prst="rect">
                <a:avLst/>
              </a:prstGeom>
              <a:blipFill>
                <a:blip r:embed="rId4"/>
                <a:stretch>
                  <a:fillRect l="-190" t="-1961" r="-209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9D74FB7-4407-4903-B625-9DBAB311D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000181"/>
                  </p:ext>
                </p:extLst>
              </p:nvPr>
            </p:nvGraphicFramePr>
            <p:xfrm>
              <a:off x="532895" y="3801085"/>
              <a:ext cx="8053986" cy="2234819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985426">
                      <a:extLst>
                        <a:ext uri="{9D8B030D-6E8A-4147-A177-3AD203B41FA5}">
                          <a16:colId xmlns:a16="http://schemas.microsoft.com/office/drawing/2014/main" val="275315514"/>
                        </a:ext>
                      </a:extLst>
                    </a:gridCol>
                    <a:gridCol w="2534280">
                      <a:extLst>
                        <a:ext uri="{9D8B030D-6E8A-4147-A177-3AD203B41FA5}">
                          <a16:colId xmlns:a16="http://schemas.microsoft.com/office/drawing/2014/main" val="3867165588"/>
                        </a:ext>
                      </a:extLst>
                    </a:gridCol>
                    <a:gridCol w="2534280">
                      <a:extLst>
                        <a:ext uri="{9D8B030D-6E8A-4147-A177-3AD203B41FA5}">
                          <a16:colId xmlns:a16="http://schemas.microsoft.com/office/drawing/2014/main" val="10699061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NP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NP-2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5225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/>
                            <a:t>연구별</a:t>
                          </a:r>
                          <a:r>
                            <a:rPr lang="ko-KR" altLang="en-US" dirty="0"/>
                            <a:t> 평균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11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평균에 대한 </a:t>
                          </a:r>
                          <a:r>
                            <a:rPr lang="en-US" altLang="ko-KR" dirty="0"/>
                            <a:t>DP</a:t>
                          </a:r>
                          <a:endParaRPr lang="ko-KR" altLang="en-US" dirty="0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0649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연구내 분산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공통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연구별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6922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표준편차에 대한 </a:t>
                          </a:r>
                          <a:r>
                            <a:rPr lang="en-US" altLang="ko-KR" dirty="0"/>
                            <a:t>DP</a:t>
                          </a:r>
                          <a:endParaRPr lang="ko-KR" altLang="en-US" dirty="0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없음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𝐷𝑃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0061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실제 연구내 분산의 이질성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허용하지 않음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허용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3917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9D74FB7-4407-4903-B625-9DBAB311DD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000181"/>
                  </p:ext>
                </p:extLst>
              </p:nvPr>
            </p:nvGraphicFramePr>
            <p:xfrm>
              <a:off x="532895" y="3801085"/>
              <a:ext cx="8053986" cy="2234819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985426">
                      <a:extLst>
                        <a:ext uri="{9D8B030D-6E8A-4147-A177-3AD203B41FA5}">
                          <a16:colId xmlns:a16="http://schemas.microsoft.com/office/drawing/2014/main" val="275315514"/>
                        </a:ext>
                      </a:extLst>
                    </a:gridCol>
                    <a:gridCol w="2534280">
                      <a:extLst>
                        <a:ext uri="{9D8B030D-6E8A-4147-A177-3AD203B41FA5}">
                          <a16:colId xmlns:a16="http://schemas.microsoft.com/office/drawing/2014/main" val="3867165588"/>
                        </a:ext>
                      </a:extLst>
                    </a:gridCol>
                    <a:gridCol w="2534280">
                      <a:extLst>
                        <a:ext uri="{9D8B030D-6E8A-4147-A177-3AD203B41FA5}">
                          <a16:colId xmlns:a16="http://schemas.microsoft.com/office/drawing/2014/main" val="10699061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NP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NP-2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5225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/>
                            <a:t>연구별</a:t>
                          </a:r>
                          <a:r>
                            <a:rPr lang="ko-KR" altLang="en-US" dirty="0"/>
                            <a:t> 평균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7788" t="-108197" r="-10024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17788" t="-108197" r="-240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11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평균에 대한 </a:t>
                          </a:r>
                          <a:r>
                            <a:rPr lang="en-US" altLang="ko-KR" dirty="0"/>
                            <a:t>DP</a:t>
                          </a:r>
                          <a:endParaRPr lang="ko-KR" altLang="en-US" dirty="0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7788" t="-208197" r="-10024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17788" t="-208197" r="-24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0649547"/>
                      </a:ext>
                    </a:extLst>
                  </a:tr>
                  <a:tr h="38061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연구내 분산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7788" t="-298413" r="-100240" b="-2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17788" t="-298413" r="-240" b="-2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6922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표준편차에 대한 </a:t>
                          </a:r>
                          <a:r>
                            <a:rPr lang="en-US" altLang="ko-KR" dirty="0"/>
                            <a:t>DP</a:t>
                          </a:r>
                          <a:endParaRPr lang="ko-KR" altLang="en-US" dirty="0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없음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17788" t="-411475" r="-240" b="-1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0061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실제 연구내 분산의 이질성</a:t>
                          </a: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허용하지 않음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허용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3917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C323F9-57CE-4A17-83DB-288ADCAC77B3}"/>
                  </a:ext>
                </a:extLst>
              </p:cNvPr>
              <p:cNvSpPr txBox="1"/>
              <p:nvPr/>
            </p:nvSpPr>
            <p:spPr>
              <a:xfrm>
                <a:off x="5431899" y="2421212"/>
                <a:ext cx="17154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C323F9-57CE-4A17-83DB-288ADCAC7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899" y="2421212"/>
                <a:ext cx="1715470" cy="276999"/>
              </a:xfrm>
              <a:prstGeom prst="rect">
                <a:avLst/>
              </a:prstGeom>
              <a:blipFill>
                <a:blip r:embed="rId6"/>
                <a:stretch>
                  <a:fillRect l="-2491" t="-2174" r="-4982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13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Simulation settings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C962AC-9634-465A-89A0-73AEC4D1BC96}"/>
                  </a:ext>
                </a:extLst>
              </p:cNvPr>
              <p:cNvSpPr txBox="1"/>
              <p:nvPr/>
            </p:nvSpPr>
            <p:spPr>
              <a:xfrm>
                <a:off x="349032" y="1075221"/>
                <a:ext cx="4447026" cy="2287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Data generation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ko-KR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𝜃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</m:oMath>
                  </m:oMathPara>
                </a14:m>
                <a:endParaRPr lang="en-US" altLang="ko-KR" sz="2000" b="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나눔바른고딕" panose="020B0603020101020101" pitchFamily="50" charset="-127"/>
                          </a:rPr>
                          <m:t>𝜃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𝑁𝑜𝑟𝑚𝑎𝑙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𝑚𝑖𝑥𝑡𝑢𝑟𝑒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</a:p>
              <a:p>
                <a:r>
                  <a:rPr lang="en-US" altLang="ko-KR" sz="2000" b="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𝐿𝑜𝑔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−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𝑛𝑜𝑟𝑚𝑎𝑙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,</m:t>
                    </m:r>
                  </m:oMath>
                </a14:m>
                <a:r>
                  <a:rPr lang="en-US" altLang="ko-KR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endParaRPr lang="en-US" altLang="ko-KR" sz="2000" dirty="0"/>
              </a:p>
              <a:p>
                <a:r>
                  <a:rPr lang="en-US" altLang="ko-KR" sz="2000" dirty="0"/>
                  <a:t>     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𝐺𝑎𝑚𝑚𝑎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endParaRPr lang="en-US" altLang="ko-KR" sz="2000" i="1" dirty="0">
                  <a:solidFill>
                    <a:srgbClr val="000000"/>
                  </a:solidFill>
                  <a:latin typeface="Cambria Math" panose="02040503050406030204" pitchFamily="18" charset="0"/>
                  <a:ea typeface="나눔바른고딕" panose="020B060302010102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𝑖𝑗</m:t>
                          </m:r>
                        </m:sub>
                      </m:sSub>
                      <m:r>
                        <a:rPr lang="en-US" altLang="ko-K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C962AC-9634-465A-89A0-73AEC4D1B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32" y="1075221"/>
                <a:ext cx="4447026" cy="2287934"/>
              </a:xfrm>
              <a:prstGeom prst="rect">
                <a:avLst/>
              </a:prstGeom>
              <a:blipFill>
                <a:blip r:embed="rId3"/>
                <a:stretch>
                  <a:fillRect l="-1370" t="-1330" b="-7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28001E-720A-4B16-A54C-7F21A7880FCE}"/>
                  </a:ext>
                </a:extLst>
              </p:cNvPr>
              <p:cNvSpPr txBox="1"/>
              <p:nvPr/>
            </p:nvSpPr>
            <p:spPr>
              <a:xfrm>
                <a:off x="5148733" y="1032800"/>
                <a:ext cx="3562312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Prior specifications</a:t>
                </a:r>
              </a:p>
              <a:p>
                <a:pPr algn="ctr"/>
                <a:r>
                  <a:rPr lang="en-US" altLang="ko-KR" sz="2000" b="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NP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𝜎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0,10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ko-KR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𝑔𝑎𝑚𝑚𝑎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US" altLang="ko-KR" sz="2000" b="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𝜏</m:t>
                      </m:r>
                      <m:r>
                        <a:rPr lang="en-US" altLang="ko-K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0,10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ko-KR" alt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(0,100)</m:t>
                      </m:r>
                    </m:oMath>
                  </m:oMathPara>
                </a14:m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𝑁𝑃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2</m:t>
                      </m:r>
                    </m:oMath>
                  </m:oMathPara>
                </a14:m>
                <a:endParaRPr lang="en-US" altLang="ko-KR" sz="2000" b="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sz="2000" b="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𝐼𝐺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1,2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,   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~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𝐼𝐺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(1,2)</m:t>
                      </m:r>
                    </m:oMath>
                  </m:oMathPara>
                </a14:m>
                <a:endParaRPr lang="en-US" altLang="ko-KR" sz="2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28001E-720A-4B16-A54C-7F21A7880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733" y="1032800"/>
                <a:ext cx="3562312" cy="2862322"/>
              </a:xfrm>
              <a:prstGeom prst="rect">
                <a:avLst/>
              </a:prstGeom>
              <a:blipFill>
                <a:blip r:embed="rId4"/>
                <a:stretch>
                  <a:fillRect l="-1712" t="-1064" b="-10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940401B-535D-4126-AB86-98BA59FB9065}"/>
              </a:ext>
            </a:extLst>
          </p:cNvPr>
          <p:cNvSpPr txBox="1"/>
          <p:nvPr/>
        </p:nvSpPr>
        <p:spPr>
          <a:xfrm>
            <a:off x="131031" y="4211664"/>
            <a:ext cx="48598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Experimental conditions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E8E6C34D-747B-4400-81A7-43471437A8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386084"/>
                  </p:ext>
                </p:extLst>
              </p:nvPr>
            </p:nvGraphicFramePr>
            <p:xfrm>
              <a:off x="660148" y="4839590"/>
              <a:ext cx="8114371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8915">
                      <a:extLst>
                        <a:ext uri="{9D8B030D-6E8A-4147-A177-3AD203B41FA5}">
                          <a16:colId xmlns:a16="http://schemas.microsoft.com/office/drawing/2014/main" val="2770817319"/>
                        </a:ext>
                      </a:extLst>
                    </a:gridCol>
                    <a:gridCol w="1578915">
                      <a:extLst>
                        <a:ext uri="{9D8B030D-6E8A-4147-A177-3AD203B41FA5}">
                          <a16:colId xmlns:a16="http://schemas.microsoft.com/office/drawing/2014/main" val="3025312735"/>
                        </a:ext>
                      </a:extLst>
                    </a:gridCol>
                    <a:gridCol w="1578915">
                      <a:extLst>
                        <a:ext uri="{9D8B030D-6E8A-4147-A177-3AD203B41FA5}">
                          <a16:colId xmlns:a16="http://schemas.microsoft.com/office/drawing/2014/main" val="3626676385"/>
                        </a:ext>
                      </a:extLst>
                    </a:gridCol>
                    <a:gridCol w="3377626">
                      <a:extLst>
                        <a:ext uri="{9D8B030D-6E8A-4147-A177-3AD203B41FA5}">
                          <a16:colId xmlns:a16="http://schemas.microsoft.com/office/drawing/2014/main" val="32878565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Studies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Sample size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Replications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Methods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4318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=5,10,30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=100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2,000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Freq, Bayes, Emp, Mix, NP, NP-2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67862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E8E6C34D-747B-4400-81A7-43471437A8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386084"/>
                  </p:ext>
                </p:extLst>
              </p:nvPr>
            </p:nvGraphicFramePr>
            <p:xfrm>
              <a:off x="660148" y="4839590"/>
              <a:ext cx="8114371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8915">
                      <a:extLst>
                        <a:ext uri="{9D8B030D-6E8A-4147-A177-3AD203B41FA5}">
                          <a16:colId xmlns:a16="http://schemas.microsoft.com/office/drawing/2014/main" val="2770817319"/>
                        </a:ext>
                      </a:extLst>
                    </a:gridCol>
                    <a:gridCol w="1578915">
                      <a:extLst>
                        <a:ext uri="{9D8B030D-6E8A-4147-A177-3AD203B41FA5}">
                          <a16:colId xmlns:a16="http://schemas.microsoft.com/office/drawing/2014/main" val="3025312735"/>
                        </a:ext>
                      </a:extLst>
                    </a:gridCol>
                    <a:gridCol w="1578915">
                      <a:extLst>
                        <a:ext uri="{9D8B030D-6E8A-4147-A177-3AD203B41FA5}">
                          <a16:colId xmlns:a16="http://schemas.microsoft.com/office/drawing/2014/main" val="3626676385"/>
                        </a:ext>
                      </a:extLst>
                    </a:gridCol>
                    <a:gridCol w="3377626">
                      <a:extLst>
                        <a:ext uri="{9D8B030D-6E8A-4147-A177-3AD203B41FA5}">
                          <a16:colId xmlns:a16="http://schemas.microsoft.com/office/drawing/2014/main" val="32878565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Studies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Sample size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Replications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Methods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4318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386" t="-109836" r="-4150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00386" t="-109836" r="-3150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99615" t="-109836" r="-21384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Freq, Bayes, Emp, Mix, NP, NP-2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67862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0870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Simulation results(Equal Within-study Variances)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F36159-42C8-4B71-ABB0-DB40A7F1B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15" y="817510"/>
            <a:ext cx="6671828" cy="553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73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Simulation results(Unequal Variances)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6F1E3B8-D1EB-47D3-81FF-5DC8C8F0B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3" y="2098967"/>
            <a:ext cx="8935446" cy="321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50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Simulation results(Robustness to Outliers)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6C63FD-BBC6-4177-8CEE-76B0DA51C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38" y="2202209"/>
            <a:ext cx="8899923" cy="313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55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Real data analysis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C2A668-7848-4E24-ABFB-C88A4FA80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55" y="586938"/>
            <a:ext cx="4230902" cy="627106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BE14BF4-584F-4BB7-9F9E-C3E96EDC9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129" y="578945"/>
            <a:ext cx="4118788" cy="627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24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BA592-5A6B-4C71-9D35-C767FD83E6E3}"/>
              </a:ext>
            </a:extLst>
          </p:cNvPr>
          <p:cNvSpPr txBox="1"/>
          <p:nvPr/>
        </p:nvSpPr>
        <p:spPr>
          <a:xfrm>
            <a:off x="673508" y="1120676"/>
            <a:ext cx="84704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DP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기반 메타분석을 새로운 건강한 개인의 참고구간 추정 문제에 적용하였으며 연구 내 분산의 이질성을 반영하기 위해서도 적용하였음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DP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도입함으로써 연구 간 정규성 가정을 완화하였으며 연구 내 이분산성과 분산 추정의 불확실성을 반영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실험에서 우수하다고 나온 것은 아니지만 이를 통해 </a:t>
            </a:r>
            <a:r>
              <a:rPr lang="ko-KR" altLang="en-US" sz="2000" dirty="0" err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연구별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요약통계량으로부터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개인 수준의 참고구간을 추정하는 베이지안 </a:t>
            </a:r>
            <a:r>
              <a:rPr lang="ko-KR" altLang="en-US" sz="2000" dirty="0" err="1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비모수</a:t>
            </a:r>
            <a:r>
              <a:rPr lang="ko-KR" altLang="en-US" sz="2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모형을 제안한 점이 핵심</a:t>
            </a:r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F1B285-2285-4B90-A570-EBF64983AAE7}"/>
                  </a:ext>
                </a:extLst>
              </p:cNvPr>
              <p:cNvSpPr txBox="1"/>
              <p:nvPr/>
            </p:nvSpPr>
            <p:spPr>
              <a:xfrm>
                <a:off x="3372984" y="2151088"/>
                <a:ext cx="280891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F1B285-2285-4B90-A570-EBF64983A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984" y="2151088"/>
                <a:ext cx="2808910" cy="553998"/>
              </a:xfrm>
              <a:prstGeom prst="rect">
                <a:avLst/>
              </a:prstGeom>
              <a:blipFill>
                <a:blip r:embed="rId3"/>
                <a:stretch>
                  <a:fillRect l="-868" r="-2603" b="-16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32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06207F-75BE-41C6-8E77-0B2EEEB3231D}"/>
              </a:ext>
            </a:extLst>
          </p:cNvPr>
          <p:cNvSpPr txBox="1"/>
          <p:nvPr/>
        </p:nvSpPr>
        <p:spPr>
          <a:xfrm>
            <a:off x="2748904" y="2196548"/>
            <a:ext cx="3646191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4800" b="1" dirty="0">
                <a:solidFill>
                  <a:srgbClr val="000000"/>
                </a:solidFill>
                <a:latin typeface="Calibri Light"/>
              </a:rPr>
              <a:t>Thank you for </a:t>
            </a:r>
          </a:p>
          <a:p>
            <a:r>
              <a:rPr lang="en-US" sz="4800" b="1" dirty="0">
                <a:solidFill>
                  <a:srgbClr val="000000"/>
                </a:solidFill>
                <a:latin typeface="Calibri Light"/>
              </a:rPr>
              <a:t>your attention</a:t>
            </a:r>
            <a:endParaRPr sz="4800" b="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2148D-55F2-454B-83DB-11F71E75141D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sz="3600" b="1" dirty="0">
              <a:solidFill>
                <a:srgbClr val="000000"/>
              </a:solidFill>
              <a:latin typeface="Calibri Light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D71CFD8-AF1F-428B-9FE8-817700EA15AF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B72B3B-3407-43F7-AA1F-0D43B89A5C98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A633CB-18AB-4E3D-AC20-13D259D84A59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75815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BED6F4A-D78F-4797-B98A-2C9ED0FD1BB6}"/>
              </a:ext>
            </a:extLst>
          </p:cNvPr>
          <p:cNvGrpSpPr/>
          <p:nvPr/>
        </p:nvGrpSpPr>
        <p:grpSpPr>
          <a:xfrm>
            <a:off x="0" y="6129127"/>
            <a:ext cx="9144000" cy="723275"/>
            <a:chOff x="0" y="6129127"/>
            <a:chExt cx="9144000" cy="7232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4DDC1-8DE1-441E-911D-1A47728E6412}"/>
                </a:ext>
              </a:extLst>
            </p:cNvPr>
            <p:cNvSpPr txBox="1"/>
            <p:nvPr/>
          </p:nvSpPr>
          <p:spPr>
            <a:xfrm>
              <a:off x="0" y="648307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endParaRPr sz="1800" b="0" dirty="0">
                <a:solidFill>
                  <a:srgbClr val="787878"/>
                </a:solidFill>
                <a:latin typeface="Calibri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6BB05-596A-4635-89D7-DB74A0ECDB9E}"/>
                </a:ext>
              </a:extLst>
            </p:cNvPr>
            <p:cNvSpPr txBox="1"/>
            <p:nvPr/>
          </p:nvSpPr>
          <p:spPr>
            <a:xfrm>
              <a:off x="8526314" y="6129127"/>
              <a:ext cx="18473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B3DD4-C5D9-4668-BA8A-36DD04D07A61}"/>
              </a:ext>
            </a:extLst>
          </p:cNvPr>
          <p:cNvSpPr txBox="1"/>
          <p:nvPr/>
        </p:nvSpPr>
        <p:spPr>
          <a:xfrm>
            <a:off x="0" y="2395"/>
            <a:ext cx="9143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rgbClr val="000000"/>
                </a:solidFill>
              </a:rPr>
              <a:t>NP</a:t>
            </a:r>
            <a:r>
              <a:rPr lang="ko-KR" altLang="en-US" sz="3600" dirty="0">
                <a:solidFill>
                  <a:srgbClr val="000000"/>
                </a:solidFill>
              </a:rPr>
              <a:t>에서의 표본분산</a:t>
            </a:r>
            <a:endParaRPr lang="en-US" altLang="ko-KR" sz="36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/>
              <p:nvPr/>
            </p:nvSpPr>
            <p:spPr>
              <a:xfrm>
                <a:off x="1047623" y="1768783"/>
                <a:ext cx="6850080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Sup>
                        <m:sSubSup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𝑔𝑎𝑚𝑚𝑎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(0,10)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26435F-238E-422A-A72D-37C4B06D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3" y="1768783"/>
                <a:ext cx="6850080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142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7412</TotalTime>
  <Words>1416</Words>
  <Application>Microsoft Office PowerPoint</Application>
  <PresentationFormat>화면 슬라이드 쇼(4:3)</PresentationFormat>
  <Paragraphs>232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나눔바른고딕</vt:lpstr>
      <vt:lpstr>맑은 고딕</vt:lpstr>
      <vt:lpstr>Arial</vt:lpstr>
      <vt:lpstr>Calibri</vt:lpstr>
      <vt:lpstr>Calibri Light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최원기</cp:lastModifiedBy>
  <cp:revision>336</cp:revision>
  <dcterms:created xsi:type="dcterms:W3CDTF">2013-01-27T09:14:16Z</dcterms:created>
  <dcterms:modified xsi:type="dcterms:W3CDTF">2026-10-26T01:01:38Z</dcterms:modified>
  <cp:category/>
</cp:coreProperties>
</file>